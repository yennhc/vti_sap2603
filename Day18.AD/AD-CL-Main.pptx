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mừng đến module Active Directory. Đây là nền tảng dịch vụ thư mục của hệ thống mạng doanh nghiệp trên Windows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 qua 6 phần của module: khái niệm, object, schema, cấu trúc luận lý, cấu trúc vật lý và bài thực hành.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Active Directory là cơ sở dữ liệu phân cấp, lưu mọi tài nguyên mạng dưới dạng Object. Ví von như danh bạ + bảo vệ của cả công 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tài nguyên là một object, mỗi object có các attribute riêng. Ví dụ user object có Logon Name, First/Last Name; computer object có computer name,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số object đặc biệt chứa nhiều object khác bên trong — gọi là container. Ví dụ domain là container chứa nhiều user và computer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là bản thiết kế định nghĩa các loại object và attribute. Schema Class như template tạo object; Schema Attribute định nghĩa từng thuộc tính, chỉ định nghĩa 1 lần, quan hệ 1-nhiều.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 gồm 2 nhóm thành phần: Logical Structure (domain, forest, OU, tree) và Physical Structure (Domain Controllers, Sites).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Cấu trúc luận lý: OU nằm trong Domain, các Domain cùng namespace tạo thành Tree, tập hợp Tree tạo thành Forest.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Cấu trúc vật lý gồm Domain Controllers (server chạy AD) và Sites (địa điểm mạng theo subnet). Site giúp tối ưu lưu lượng nhân bản giữa các văn phòng.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thực hành gồm 5 bước tuần tự trên Windows Server: cài DC, tạo OU/User, join máy vào domain, cài Additional DC, và Backup/Restore DC.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 và mở phần hỏi đáp. Cảm 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B5CF6">
                  <a:alpha val="30000"/>
                </a:srgbClr>
              </a:gs>
              <a:gs pos="60000">
                <a:srgbClr val="8B5CF6">
                  <a:alpha val="0"/>
                </a:srgbClr>
              </a:gs>
            </a:gsLst>
            <a:path path="circle">
              <a:fillToRect l="88000" t="0" r="12000" b="10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01500" y="1714500"/>
            <a:ext cx="6858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90600" y="2203103"/>
            <a:ext cx="2548682" cy="466725"/>
          </a:xfrm>
          <a:prstGeom prst="roundRect">
            <a:avLst>
              <a:gd name="adj" fmla="val 24490"/>
            </a:avLst>
          </a:prstGeom>
          <a:gradFill rotWithShape="1">
            <a:gsLst>
              <a:gs pos="0">
                <a:srgbClr val="4F7CFF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1162050" y="2298353"/>
            <a:ext cx="22822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3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HỌC TẬP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3672632" y="2315021"/>
            <a:ext cx="5314466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INFRASTRUCTURE · WINDOWS SERVER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90600" y="2993678"/>
            <a:ext cx="16796004" cy="2502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05"/>
              </a:lnSpc>
              <a:buNone/>
            </a:pPr>
            <a:r>
              <a:rPr lang="en-US" sz="9900" b="1" spc="-225" kern="0" dirty="0">
                <a:gradFill rotWithShape="1">
                  <a:gsLst>
                    <a:gs pos="30000">
                      <a:srgbClr val="FFFFFF">
                        <a:alpha val="100000"/>
                      </a:srgbClr>
                    </a:gs>
                    <a:gs pos="70000">
                      <a:srgbClr val="A9BAFF">
                        <a:alpha val="100000"/>
                      </a:srgbClr>
                    </a:gs>
                    <a:gs pos="100000">
                      <a:srgbClr val="C4A9FF">
                        <a:alpha val="100000"/>
                      </a:srgbClr>
                    </a:gs>
                  </a:gsLst>
                  <a:lin ang="18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</a:t>
            </a:r>
            <a:endParaRPr lang="en-US" sz="9900" dirty="0"/>
          </a:p>
        </p:txBody>
      </p:sp>
      <p:sp>
        <p:nvSpPr>
          <p:cNvPr id="8" name="Text 5"/>
          <p:cNvSpPr/>
          <p:nvPr/>
        </p:nvSpPr>
        <p:spPr>
          <a:xfrm>
            <a:off x="990600" y="5781824"/>
            <a:ext cx="10301288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37"/>
              </a:lnSpc>
              <a:buNone/>
            </a:pPr>
            <a:r>
              <a:rPr lang="en-US" sz="2700" dirty="0">
                <a:solidFill>
                  <a:srgbClr val="CD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18–19 · Xương sống định danh &amp; quản lý tài nguyên của mạng doanh nghiệp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990600" y="6821835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87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identity &amp; directory backbone of enterprise networks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90600" y="7631460"/>
            <a:ext cx="438150" cy="438150"/>
          </a:xfrm>
          <a:prstGeom prst="ellipse">
            <a:avLst/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1" name="Text 8"/>
          <p:cNvSpPr/>
          <p:nvPr/>
        </p:nvSpPr>
        <p:spPr>
          <a:xfrm>
            <a:off x="952500" y="763146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81150" y="7617172"/>
            <a:ext cx="29094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Biên soạn: Yên Nguyễn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1581150" y="7893397"/>
            <a:ext cx="29094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C8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Yên Nguyễn — All Rights Reserved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B5CF6">
                  <a:alpha val="24000"/>
                </a:srgbClr>
              </a:gs>
              <a:gs pos="60000">
                <a:srgbClr val="8B5CF6">
                  <a:alpha val="0"/>
                </a:srgbClr>
              </a:gs>
            </a:gsLst>
            <a:path path="circle">
              <a:fillToRect l="92000" t="0" r="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90600" y="800100"/>
            <a:ext cx="4197139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HỌC · LEARNING PATH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0600" y="1176338"/>
            <a:ext cx="1793748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75" kern="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90600" y="1890713"/>
            <a:ext cx="179374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phần được thiết kế theo trình tự từ khái niệm đến thực hành thực tế.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90600" y="2586038"/>
            <a:ext cx="5270450" cy="3383756"/>
          </a:xfrm>
          <a:prstGeom prst="roundRect">
            <a:avLst>
              <a:gd name="adj" fmla="val 619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96FF">
                <a:alpha val="1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4925" y="2919413"/>
            <a:ext cx="510598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gradFill rotWithShape="1">
                  <a:gsLst>
                    <a:gs pos="0">
                      <a:srgbClr val="4F7CFF">
                        <a:alpha val="100000"/>
                      </a:srgbClr>
                    </a:gs>
                    <a:gs pos="100000">
                      <a:srgbClr val="8B5CF6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04925" y="3490913"/>
            <a:ext cx="51059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là gì?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04925" y="3952875"/>
            <a:ext cx="478105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Khái niệm cốt lõi &amp; vai trò của dịch vụ thư mục.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508700" y="2586038"/>
            <a:ext cx="5270525" cy="3383756"/>
          </a:xfrm>
          <a:prstGeom prst="roundRect">
            <a:avLst>
              <a:gd name="adj" fmla="val 619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96FF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3025" y="2919413"/>
            <a:ext cx="510606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gradFill rotWithShape="1">
                  <a:gsLst>
                    <a:gs pos="0">
                      <a:srgbClr val="4F7CFF">
                        <a:alpha val="100000"/>
                      </a:srgbClr>
                    </a:gs>
                    <a:gs pos="100000">
                      <a:srgbClr val="8B5CF6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23025" y="3490913"/>
            <a:ext cx="510606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&amp; Attributes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823025" y="3952875"/>
            <a:ext cx="51060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tượng và các thuộc tính đặc trưng.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2026875" y="2586038"/>
            <a:ext cx="5270450" cy="3383756"/>
          </a:xfrm>
          <a:prstGeom prst="roundRect">
            <a:avLst>
              <a:gd name="adj" fmla="val 619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96FF">
                <a:alpha val="1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1200" y="2919413"/>
            <a:ext cx="510598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gradFill rotWithShape="1">
                  <a:gsLst>
                    <a:gs pos="0">
                      <a:srgbClr val="4F7CFF">
                        <a:alpha val="100000"/>
                      </a:srgbClr>
                    </a:gs>
                    <a:gs pos="100000">
                      <a:srgbClr val="8B5CF6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341200" y="3490913"/>
            <a:ext cx="51059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341200" y="3952875"/>
            <a:ext cx="478105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thiết kế định nghĩa mọi loại đối tượng.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90600" y="6217444"/>
            <a:ext cx="5270450" cy="3383756"/>
          </a:xfrm>
          <a:prstGeom prst="roundRect">
            <a:avLst>
              <a:gd name="adj" fmla="val 619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96FF">
                <a:alpha val="1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4925" y="6550819"/>
            <a:ext cx="510598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gradFill rotWithShape="1">
                  <a:gsLst>
                    <a:gs pos="0">
                      <a:srgbClr val="4F7CFF">
                        <a:alpha val="100000"/>
                      </a:srgbClr>
                    </a:gs>
                    <a:gs pos="100000">
                      <a:srgbClr val="8B5CF6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04925" y="7122319"/>
            <a:ext cx="51059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Structure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04925" y="7584281"/>
            <a:ext cx="51059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· Tree · Forest · OU.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6508700" y="6217444"/>
            <a:ext cx="5270525" cy="3383756"/>
          </a:xfrm>
          <a:prstGeom prst="roundRect">
            <a:avLst>
              <a:gd name="adj" fmla="val 619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96FF">
                <a:alpha val="1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3025" y="6550819"/>
            <a:ext cx="510606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gradFill rotWithShape="1">
                  <a:gsLst>
                    <a:gs pos="0">
                      <a:srgbClr val="4F7CFF">
                        <a:alpha val="100000"/>
                      </a:srgbClr>
                    </a:gs>
                    <a:gs pos="100000">
                      <a:srgbClr val="8B5CF6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23025" y="7122319"/>
            <a:ext cx="510606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Structure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823025" y="7584281"/>
            <a:ext cx="51060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Controllers &amp; Sites.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2026875" y="6217444"/>
            <a:ext cx="5270450" cy="3383756"/>
          </a:xfrm>
          <a:prstGeom prst="roundRect">
            <a:avLst>
              <a:gd name="adj" fmla="val 6193"/>
            </a:avLst>
          </a:prstGeom>
          <a:gradFill rotWithShape="1">
            <a:gsLst>
              <a:gs pos="0">
                <a:srgbClr val="4F7CFF">
                  <a:alpha val="22000"/>
                </a:srgbClr>
              </a:gs>
              <a:gs pos="100000">
                <a:srgbClr val="8B5CF6">
                  <a:alpha val="22000"/>
                </a:srgbClr>
              </a:gs>
            </a:gsLst>
            <a:lin ang="2700000" scaled="0"/>
          </a:gradFill>
          <a:ln w="9525">
            <a:solidFill>
              <a:srgbClr val="8B96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1200" y="6550819"/>
            <a:ext cx="510598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2341200" y="7122319"/>
            <a:ext cx="510598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🔧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2341200" y="7631906"/>
            <a:ext cx="51059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D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bài lab trên Windows Server thực tế.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B5CF6">
                  <a:alpha val="22000"/>
                </a:srgbClr>
              </a:gs>
              <a:gs pos="60000">
                <a:srgbClr val="8B5CF6">
                  <a:alpha val="0"/>
                </a:srgbClr>
              </a:gs>
            </a:gsLst>
            <a:path path="circle">
              <a:fillToRect l="92000" t="0" r="8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90600" y="800100"/>
            <a:ext cx="1346597" cy="366713"/>
          </a:xfrm>
          <a:prstGeom prst="roundRect">
            <a:avLst>
              <a:gd name="adj" fmla="val 25974"/>
            </a:avLst>
          </a:prstGeom>
          <a:gradFill rotWithShape="1">
            <a:gsLst>
              <a:gs pos="0">
                <a:srgbClr val="4F7CFF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123950" y="876300"/>
            <a:ext cx="115609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9597" y="862013"/>
            <a:ext cx="230333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KHÁI NIỆM CƠ BẢN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1319213"/>
            <a:ext cx="1793748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75" kern="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là gì?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90600" y="3784029"/>
            <a:ext cx="8570610" cy="137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05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(AD) </a:t>
            </a:r>
            <a:pPr algn="l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E4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một </a:t>
            </a:r>
            <a:pPr algn="l" indent="0" marL="0">
              <a:lnSpc>
                <a:spcPct val="125405"/>
              </a:lnSpc>
              <a:buNone/>
            </a:pPr>
            <a:r>
              <a:rPr lang="en-US" sz="2400" b="1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sở dữ liệu phân cấp </a:t>
            </a:r>
            <a:pPr algn="l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E4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trữ thông tin về mọi tài nguyên trong mạng — người dùng, máy tính, máy in… — dưới dạng </a:t>
            </a:r>
            <a:pPr algn="l" indent="0" marL="0">
              <a:lnSpc>
                <a:spcPct val="125405"/>
              </a:lnSpc>
              <a:buNone/>
            </a:pPr>
            <a:r>
              <a:rPr lang="en-US" sz="2400" b="1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(đối tượng)</a:t>
            </a:r>
            <a:pPr algn="l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E4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90600" y="5367040"/>
            <a:ext cx="8320980" cy="1907381"/>
          </a:xfrm>
          <a:prstGeom prst="roundRect">
            <a:avLst>
              <a:gd name="adj" fmla="val 8989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5875" y="5624215"/>
            <a:ext cx="8503474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VÍ DỤ THỰC TẾ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5875" y="5971877"/>
            <a:ext cx="7962343" cy="1083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D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Hãy hình dung AD như </a:t>
            </a:r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D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“danh bạ điện tử + bảo vệ”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D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của cả công ty: quản lý tập trung ai là ai, được vào phòng nào, dùng máy nào — chỉ cần </a:t>
            </a:r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D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lần đăng nhập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D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90600" y="7522071"/>
            <a:ext cx="2337941" cy="500063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B96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0625" y="7626846"/>
            <a:ext cx="201409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tập trung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61891" y="7522071"/>
            <a:ext cx="2294260" cy="500063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B96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1916" y="7626846"/>
            <a:ext cx="19704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cấp rõ ràng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889501" y="7522071"/>
            <a:ext cx="2305943" cy="500063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B96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526" y="7626846"/>
            <a:ext cx="19820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thực an toàn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768780" y="2694161"/>
            <a:ext cx="7528545" cy="6417915"/>
          </a:xfrm>
          <a:prstGeom prst="roundRect">
            <a:avLst>
              <a:gd name="adj" fmla="val 356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8B96FF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64055" y="3046586"/>
            <a:ext cx="763179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TRÚC PHÂN CẤP / HIERARCHY</a:t>
            </a:r>
            <a:endParaRPr lang="en-US" sz="18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4055" y="3518074"/>
            <a:ext cx="6937995" cy="52034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F7CFF">
                  <a:alpha val="22000"/>
                </a:srgbClr>
              </a:gs>
              <a:gs pos="60000">
                <a:srgbClr val="4F7CFF">
                  <a:alpha val="0"/>
                </a:srgbClr>
              </a:gs>
            </a:gsLst>
            <a:path path="circle">
              <a:fillToRect l="92000" t="0" r="8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90600" y="800100"/>
            <a:ext cx="1346597" cy="366713"/>
          </a:xfrm>
          <a:prstGeom prst="roundRect">
            <a:avLst>
              <a:gd name="adj" fmla="val 25974"/>
            </a:avLst>
          </a:prstGeom>
          <a:gradFill rotWithShape="1">
            <a:gsLst>
              <a:gs pos="0">
                <a:srgbClr val="4F7CFF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123950" y="876300"/>
            <a:ext cx="115609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9597" y="862013"/>
            <a:ext cx="2954409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&amp; ATTRIBUTES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1319213"/>
            <a:ext cx="1793748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75" kern="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tượng và thuộc tính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90600" y="1995487"/>
            <a:ext cx="179374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tài nguyên = một </a:t>
            </a:r>
            <a:pPr algn="l" indent="0" marL="0">
              <a:buNone/>
            </a:pPr>
            <a:r>
              <a:rPr lang="en-US" sz="1950" b="1" dirty="0">
                <a:solidFill>
                  <a:srgbClr val="CD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pPr algn="l" indent="0" marL="0">
              <a:buNone/>
            </a:pPr>
            <a:r>
              <a:rPr lang="en-US" sz="1950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Mỗi object mang </a:t>
            </a:r>
            <a:pPr algn="l" indent="0" marL="0">
              <a:buNone/>
            </a:pPr>
            <a:r>
              <a:rPr lang="en-US" sz="1950" b="1" dirty="0">
                <a:solidFill>
                  <a:srgbClr val="CD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 (thuộc tính) </a:t>
            </a:r>
            <a:pPr algn="l" indent="0" marL="0">
              <a:buNone/>
            </a:pPr>
            <a:r>
              <a:rPr lang="en-US" sz="1950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trưng riêng.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90600" y="2576513"/>
            <a:ext cx="7991475" cy="7024688"/>
          </a:xfrm>
          <a:prstGeom prst="roundRect">
            <a:avLst>
              <a:gd name="adj" fmla="val 298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96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3975" y="2924175"/>
            <a:ext cx="552450" cy="552450"/>
          </a:xfrm>
          <a:prstGeom prst="roundRect">
            <a:avLst>
              <a:gd name="adj" fmla="val 24138"/>
            </a:avLst>
          </a:prstGeom>
          <a:gradFill rotWithShape="1">
            <a:gsLst>
              <a:gs pos="0">
                <a:srgbClr val="4F7CFF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1285875" y="292417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028825" y="2890838"/>
            <a:ext cx="26235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Object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028825" y="3219450"/>
            <a:ext cx="26235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tượng người dùng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23975" y="3719512"/>
            <a:ext cx="7324725" cy="533400"/>
          </a:xfrm>
          <a:prstGeom prst="roundRect">
            <a:avLst>
              <a:gd name="adj" fmla="val 17857"/>
            </a:avLst>
          </a:prstGeom>
          <a:solidFill>
            <a:srgbClr val="4F7CF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95425" y="3833812"/>
            <a:ext cx="14999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Logon Name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101185" y="3833812"/>
            <a:ext cx="15136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yen.nguyen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323975" y="4367213"/>
            <a:ext cx="7324725" cy="533400"/>
          </a:xfrm>
          <a:prstGeom prst="roundRect">
            <a:avLst>
              <a:gd name="adj" fmla="val 17857"/>
            </a:avLst>
          </a:prstGeom>
          <a:solidFill>
            <a:srgbClr val="4F7C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495425" y="4481513"/>
            <a:ext cx="12404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Name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8065517" y="4481513"/>
            <a:ext cx="4879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Yên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323975" y="5014913"/>
            <a:ext cx="7324725" cy="533400"/>
          </a:xfrm>
          <a:prstGeom prst="roundRect">
            <a:avLst>
              <a:gd name="adj" fmla="val 17857"/>
            </a:avLst>
          </a:prstGeom>
          <a:solidFill>
            <a:srgbClr val="4F7CFF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495425" y="5129213"/>
            <a:ext cx="12276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Name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7588151" y="5129213"/>
            <a:ext cx="9652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323975" y="5662613"/>
            <a:ext cx="7324725" cy="533400"/>
          </a:xfrm>
          <a:prstGeom prst="roundRect">
            <a:avLst>
              <a:gd name="adj" fmla="val 17857"/>
            </a:avLst>
          </a:prstGeom>
          <a:solidFill>
            <a:srgbClr val="4F7CFF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495425" y="5776913"/>
            <a:ext cx="6716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6938442" y="5776913"/>
            <a:ext cx="16926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yen@corp.vn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305925" y="2576513"/>
            <a:ext cx="7991475" cy="7024688"/>
          </a:xfrm>
          <a:prstGeom prst="roundRect">
            <a:avLst>
              <a:gd name="adj" fmla="val 298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96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39300" y="2924175"/>
            <a:ext cx="552450" cy="552450"/>
          </a:xfrm>
          <a:prstGeom prst="roundRect">
            <a:avLst>
              <a:gd name="adj" fmla="val 24138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4F7CFF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7" name="Text 25"/>
          <p:cNvSpPr/>
          <p:nvPr/>
        </p:nvSpPr>
        <p:spPr>
          <a:xfrm>
            <a:off x="9601200" y="292417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0344150" y="2890838"/>
            <a:ext cx="23758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Object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0344150" y="3219450"/>
            <a:ext cx="237585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tượng máy tính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639300" y="3719512"/>
            <a:ext cx="7324725" cy="533400"/>
          </a:xfrm>
          <a:prstGeom prst="roundRect">
            <a:avLst>
              <a:gd name="adj" fmla="val 17857"/>
            </a:avLst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810750" y="3833812"/>
            <a:ext cx="19215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Name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5303773" y="3833812"/>
            <a:ext cx="16376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PC-SALES-07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9639300" y="4367213"/>
            <a:ext cx="7324725" cy="533400"/>
          </a:xfrm>
          <a:prstGeom prst="roundRect">
            <a:avLst>
              <a:gd name="adj" fmla="val 17857"/>
            </a:avLst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810750" y="4481513"/>
            <a:ext cx="12673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15131430" y="4481513"/>
            <a:ext cx="18272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Máy phòng KD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9639300" y="5014913"/>
            <a:ext cx="7324725" cy="533400"/>
          </a:xfrm>
          <a:prstGeom prst="roundRect">
            <a:avLst>
              <a:gd name="adj" fmla="val 17857"/>
            </a:avLst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810750" y="5129213"/>
            <a:ext cx="4202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1875" dirty="0"/>
          </a:p>
        </p:txBody>
      </p:sp>
      <p:sp>
        <p:nvSpPr>
          <p:cNvPr id="38" name="Text 36"/>
          <p:cNvSpPr/>
          <p:nvPr/>
        </p:nvSpPr>
        <p:spPr>
          <a:xfrm>
            <a:off x="15489808" y="5129213"/>
            <a:ext cx="14330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9639300" y="5662613"/>
            <a:ext cx="7324725" cy="533400"/>
          </a:xfrm>
          <a:prstGeom prst="roundRect">
            <a:avLst>
              <a:gd name="adj" fmla="val 17857"/>
            </a:avLst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810750" y="5776913"/>
            <a:ext cx="9765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16011153" y="5776913"/>
            <a:ext cx="85762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3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B5CF6">
                  <a:alpha val="22000"/>
                </a:srgbClr>
              </a:gs>
              <a:gs pos="60000">
                <a:srgbClr val="8B5CF6">
                  <a:alpha val="0"/>
                </a:srgbClr>
              </a:gs>
            </a:gsLst>
            <a:path path="circle">
              <a:fillToRect l="92000" t="0" r="8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90600" y="800100"/>
            <a:ext cx="1346597" cy="366713"/>
          </a:xfrm>
          <a:prstGeom prst="roundRect">
            <a:avLst>
              <a:gd name="adj" fmla="val 25974"/>
            </a:avLst>
          </a:prstGeom>
          <a:gradFill rotWithShape="1">
            <a:gsLst>
              <a:gs pos="0">
                <a:srgbClr val="4F7CFF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123950" y="876300"/>
            <a:ext cx="115609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9597" y="862013"/>
            <a:ext cx="138434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1319213"/>
            <a:ext cx="1793748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75" kern="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— Object chứa Object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90600" y="1995487"/>
            <a:ext cx="1157668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số object đặc biệt </a:t>
            </a:r>
            <a:pPr algn="l" indent="0" marL="0">
              <a:buNone/>
            </a:pPr>
            <a:r>
              <a:rPr lang="en-US" sz="1950" b="1" dirty="0">
                <a:solidFill>
                  <a:srgbClr val="CD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chứa nhiều object khác </a:t>
            </a:r>
            <a:pPr algn="l" indent="0" marL="0">
              <a:buNone/>
            </a:pPr>
            <a:r>
              <a:rPr lang="en-US" sz="1950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bên trong. Ví dụ điển hình: </a:t>
            </a:r>
            <a:pPr algn="l" indent="0" marL="0">
              <a:buNone/>
            </a:pPr>
            <a:r>
              <a:rPr lang="en-US" sz="1950" b="1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</a:t>
            </a:r>
            <a:pPr algn="l" indent="0" marL="0">
              <a:buNone/>
            </a:pPr>
            <a:r>
              <a:rPr lang="en-US" sz="1950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một container gồm nhiều user &amp; computer account.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3524250" y="5005388"/>
            <a:ext cx="11239500" cy="2405063"/>
          </a:xfrm>
          <a:prstGeom prst="roundRect">
            <a:avLst>
              <a:gd name="adj" fmla="val 10297"/>
            </a:avLst>
          </a:prstGeom>
          <a:gradFill rotWithShape="1">
            <a:gsLst>
              <a:gs pos="0">
                <a:srgbClr val="4F7CFF">
                  <a:alpha val="14000"/>
                </a:srgbClr>
              </a:gs>
              <a:gs pos="100000">
                <a:srgbClr val="8B5CF6">
                  <a:alpha val="12000"/>
                </a:srgbClr>
              </a:gs>
            </a:gsLst>
            <a:lin ang="2700000" scaled="0"/>
          </a:gradFill>
          <a:ln w="19050">
            <a:solidFill>
              <a:srgbClr val="8B96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24300" y="4833938"/>
            <a:ext cx="3720108" cy="490538"/>
          </a:xfrm>
          <a:prstGeom prst="roundRect">
            <a:avLst>
              <a:gd name="adj" fmla="val 23301"/>
            </a:avLst>
          </a:prstGeom>
          <a:gradFill rotWithShape="1">
            <a:gsLst>
              <a:gs pos="0">
                <a:srgbClr val="4F7CFF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4152900" y="4929188"/>
            <a:ext cx="33745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Domain: corp.vn </a:t>
            </a:r>
            <a:pPr algn="l" indent="0" marL="0">
              <a:buNone/>
            </a:pPr>
            <a:r>
              <a:rPr lang="en-US" sz="18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(container)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24300" y="5576888"/>
            <a:ext cx="5086350" cy="1433513"/>
          </a:xfrm>
          <a:prstGeom prst="roundRect">
            <a:avLst>
              <a:gd name="adj" fmla="val 11960"/>
            </a:avLst>
          </a:prstGeom>
          <a:solidFill>
            <a:srgbClr val="0A0E27">
              <a:alpha val="55000"/>
            </a:srgbClr>
          </a:solidFill>
          <a:ln w="14288">
            <a:solidFill>
              <a:srgbClr val="4F7C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86238" y="5819775"/>
            <a:ext cx="50187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9E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OU: Users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4186238" y="6286500"/>
            <a:ext cx="910084" cy="481012"/>
          </a:xfrm>
          <a:prstGeom prst="roundRect">
            <a:avLst>
              <a:gd name="adj" fmla="val 19802"/>
            </a:avLst>
          </a:prstGeom>
          <a:solidFill>
            <a:srgbClr val="4F7CFF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357688" y="6400800"/>
            <a:ext cx="643384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Yên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229671" y="6286500"/>
            <a:ext cx="1010245" cy="481012"/>
          </a:xfrm>
          <a:prstGeom prst="roundRect">
            <a:avLst>
              <a:gd name="adj" fmla="val 19802"/>
            </a:avLst>
          </a:prstGeom>
          <a:solidFill>
            <a:srgbClr val="4F7CFF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01121" y="6400800"/>
            <a:ext cx="74354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Minh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73267" y="6286500"/>
            <a:ext cx="919981" cy="481012"/>
          </a:xfrm>
          <a:prstGeom prst="roundRect">
            <a:avLst>
              <a:gd name="adj" fmla="val 19802"/>
            </a:avLst>
          </a:prstGeom>
          <a:solidFill>
            <a:srgbClr val="4F7CFF">
              <a:alpha val="1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544717" y="6400800"/>
            <a:ext cx="653281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Lan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277350" y="5576888"/>
            <a:ext cx="5086350" cy="1433513"/>
          </a:xfrm>
          <a:prstGeom prst="roundRect">
            <a:avLst>
              <a:gd name="adj" fmla="val 11960"/>
            </a:avLst>
          </a:prstGeom>
          <a:solidFill>
            <a:srgbClr val="0A0E27">
              <a:alpha val="55000"/>
            </a:srgbClr>
          </a:solidFill>
          <a:ln w="14288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39288" y="5819775"/>
            <a:ext cx="50187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9B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OU: Computers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539288" y="6286500"/>
            <a:ext cx="1165547" cy="481012"/>
          </a:xfrm>
          <a:prstGeom prst="roundRect">
            <a:avLst>
              <a:gd name="adj" fmla="val 19802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710738" y="6400800"/>
            <a:ext cx="898847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PC-01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838185" y="6286500"/>
            <a:ext cx="1216223" cy="481012"/>
          </a:xfrm>
          <a:prstGeom prst="roundRect">
            <a:avLst>
              <a:gd name="adj" fmla="val 19802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009635" y="6400800"/>
            <a:ext cx="94952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PC-02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2187758" y="6286500"/>
            <a:ext cx="1200596" cy="481012"/>
          </a:xfrm>
          <a:prstGeom prst="roundRect">
            <a:avLst>
              <a:gd name="adj" fmla="val 19802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359208" y="6400800"/>
            <a:ext cx="93389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 Printer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F7CFF">
                  <a:alpha val="22000"/>
                </a:srgbClr>
              </a:gs>
              <a:gs pos="60000">
                <a:srgbClr val="4F7CFF">
                  <a:alpha val="0"/>
                </a:srgbClr>
              </a:gs>
            </a:gsLst>
            <a:path path="circle">
              <a:fillToRect l="92000" t="0" r="8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90600" y="800100"/>
            <a:ext cx="1346597" cy="366713"/>
          </a:xfrm>
          <a:prstGeom prst="roundRect">
            <a:avLst>
              <a:gd name="adj" fmla="val 25974"/>
            </a:avLst>
          </a:prstGeom>
          <a:gradFill rotWithShape="1">
            <a:gsLst>
              <a:gs pos="0">
                <a:srgbClr val="4F7CFF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123950" y="876300"/>
            <a:ext cx="115609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9597" y="862013"/>
            <a:ext cx="3438666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SCHEMA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1319213"/>
            <a:ext cx="1793748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75" kern="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— Bản thiết kế của AD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90600" y="1995487"/>
            <a:ext cx="1216533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là </a:t>
            </a:r>
            <a:pPr algn="l" indent="0" marL="0">
              <a:buNone/>
            </a:pPr>
            <a:r>
              <a:rPr lang="en-US" sz="1950" b="1" dirty="0">
                <a:solidFill>
                  <a:srgbClr val="CD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định nghĩa </a:t>
            </a:r>
            <a:pPr algn="l" indent="0" marL="0">
              <a:buNone/>
            </a:pPr>
            <a:r>
              <a:rPr lang="en-US" sz="1950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 có những loại đối tượng nào và mỗi loại mang thông tin gì. Bản thân Schema cũng được lưu như một object.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90600" y="2871788"/>
            <a:ext cx="7534275" cy="5881688"/>
          </a:xfrm>
          <a:prstGeom prst="roundRect">
            <a:avLst>
              <a:gd name="adj" fmla="val 356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96FF">
                <a:alpha val="2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3975" y="3186113"/>
            <a:ext cx="755427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CLASS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3975" y="3524250"/>
            <a:ext cx="7554278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Khuôn mẫu (template)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23975" y="4033837"/>
            <a:ext cx="7073551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Đóng vai trò như </a:t>
            </a:r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để tạo mới đối tượng trong AD. Mỗi Class là một </a:t>
            </a:r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hợp các thuộc tính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323975" y="7007572"/>
            <a:ext cx="6867525" cy="1431578"/>
          </a:xfrm>
          <a:prstGeom prst="roundRect">
            <a:avLst>
              <a:gd name="adj" fmla="val 9315"/>
            </a:avLst>
          </a:prstGeom>
          <a:solidFill>
            <a:srgbClr val="4F7CFF">
              <a:alpha val="12000"/>
            </a:srgbClr>
          </a:solidFill>
          <a:ln w="9525">
            <a:solidFill>
              <a:srgbClr val="4F7CFF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43050" y="7188547"/>
            <a:ext cx="707231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Class: User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43050" y="7526685"/>
            <a:ext cx="6622256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givenName • sn • mail • sAMAccountName • department</a:t>
            </a:r>
            <a:endParaRPr lang="en-US" sz="1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10625" y="5364956"/>
            <a:ext cx="666750" cy="381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834735" y="5822156"/>
            <a:ext cx="61853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ra object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763125" y="2871788"/>
            <a:ext cx="7534275" cy="5881688"/>
          </a:xfrm>
          <a:prstGeom prst="roundRect">
            <a:avLst>
              <a:gd name="adj" fmla="val 356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96FF">
                <a:alpha val="24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96500" y="3186113"/>
            <a:ext cx="755427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ATTRIBUTE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096500" y="3524250"/>
            <a:ext cx="7554278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Định nghĩa thuộc tính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0096500" y="4033837"/>
            <a:ext cx="7073551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thuộc tính chỉ </a:t>
            </a:r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nghĩa 1 lần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AD, nhưng có thể dùng cho </a:t>
            </a:r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Class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quan hệ </a:t>
            </a:r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1–n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10096500" y="7373317"/>
            <a:ext cx="6867525" cy="1065833"/>
          </a:xfrm>
          <a:prstGeom prst="roundRect">
            <a:avLst>
              <a:gd name="adj" fmla="val 12511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315575" y="7554292"/>
            <a:ext cx="707231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B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Attribute: mail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315575" y="7892430"/>
            <a:ext cx="7072313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chung cho → User, Contact, Group…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90600" y="8963025"/>
            <a:ext cx="16306800" cy="638175"/>
          </a:xfrm>
          <a:prstGeom prst="roundRect">
            <a:avLst>
              <a:gd name="adj" fmla="val 20896"/>
            </a:avLst>
          </a:prstGeom>
          <a:solidFill>
            <a:srgbClr val="8B5CF6">
              <a:alpha val="1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47775" y="9124950"/>
            <a:ext cx="1628165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CD6FF"/>
                </a:solidFill>
                <a:highlight>
                  <a:srgbClr val="F3EF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✨ </a:t>
            </a:r>
            <a:pPr algn="l" indent="0" marL="0">
              <a:buNone/>
            </a:pPr>
            <a:r>
              <a:rPr lang="en-US" sz="1875" b="1" dirty="0">
                <a:solidFill>
                  <a:srgbClr val="DCD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được: </a:t>
            </a:r>
            <a:pPr algn="l" indent="0" marL="0">
              <a:buNone/>
            </a:pPr>
            <a:r>
              <a:rPr lang="en-US" sz="1875" dirty="0">
                <a:solidFill>
                  <a:srgbClr val="DCD6FF"/>
                </a:solidFill>
                <a:highlight>
                  <a:srgbClr val="F3EF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có thể thêm Class/Attribute mới để AD phù hợp nhu cầu riêng của doanh nghiệp.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58000">
                <a:srgbClr val="8B5CF6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90600" y="800100"/>
            <a:ext cx="1727746" cy="366713"/>
          </a:xfrm>
          <a:prstGeom prst="roundRect">
            <a:avLst>
              <a:gd name="adj" fmla="val 25974"/>
            </a:avLst>
          </a:prstGeom>
          <a:gradFill rotWithShape="1">
            <a:gsLst>
              <a:gs pos="0">
                <a:srgbClr val="4F7CFF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123950" y="876300"/>
            <a:ext cx="153724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70746" y="862013"/>
            <a:ext cx="410382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COMPONENTS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1319213"/>
            <a:ext cx="1793748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75" kern="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nhóm thành phần chính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990600" y="2262188"/>
            <a:ext cx="7981950" cy="7339012"/>
          </a:xfrm>
          <a:prstGeom prst="roundRect">
            <a:avLst>
              <a:gd name="adj" fmla="val 3115"/>
            </a:avLst>
          </a:prstGeom>
          <a:gradFill rotWithShape="1">
            <a:gsLst>
              <a:gs pos="0">
                <a:srgbClr val="4F7CFF">
                  <a:alpha val="20000"/>
                </a:srgbClr>
              </a:gs>
              <a:gs pos="100000">
                <a:srgbClr val="4F7CFF">
                  <a:alpha val="6000"/>
                </a:srgbClr>
              </a:gs>
            </a:gsLst>
            <a:lin ang="4200000" scaled="0"/>
          </a:gradFill>
          <a:ln w="9525">
            <a:solidFill>
              <a:srgbClr val="4F7C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1125" y="2671763"/>
            <a:ext cx="792099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381125" y="3505200"/>
            <a:ext cx="792099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Structure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381125" y="3957638"/>
            <a:ext cx="792099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E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trúc luận lý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381125" y="4467225"/>
            <a:ext cx="7416927" cy="705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D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 chức tài nguyên theo </a:t>
            </a:r>
            <a:pPr algn="l" indent="0" marL="0">
              <a:lnSpc>
                <a:spcPct val="126545"/>
              </a:lnSpc>
              <a:buNone/>
            </a:pPr>
            <a:r>
              <a:rPr lang="en-US" sz="1800" b="1" dirty="0">
                <a:solidFill>
                  <a:srgbClr val="D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nghĩa quản lý </a:t>
            </a:r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D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giúp người dùng truy xuất dễ dàng mà không cần nhớ vị trí vật lý.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81125" y="8739188"/>
            <a:ext cx="1028849" cy="452438"/>
          </a:xfrm>
          <a:prstGeom prst="roundRect">
            <a:avLst>
              <a:gd name="adj" fmla="val 50000"/>
            </a:avLst>
          </a:prstGeom>
          <a:solidFill>
            <a:srgbClr val="4F7CFF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71625" y="8834437"/>
            <a:ext cx="72404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24274" y="8739188"/>
            <a:ext cx="842590" cy="452438"/>
          </a:xfrm>
          <a:prstGeom prst="roundRect">
            <a:avLst>
              <a:gd name="adj" fmla="val 50000"/>
            </a:avLst>
          </a:prstGeom>
          <a:solidFill>
            <a:srgbClr val="4F7CFF">
              <a:alpha val="2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714774" y="8834437"/>
            <a:ext cx="5377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81164" y="8739188"/>
            <a:ext cx="1168747" cy="452438"/>
          </a:xfrm>
          <a:prstGeom prst="roundRect">
            <a:avLst>
              <a:gd name="adj" fmla="val 50000"/>
            </a:avLst>
          </a:prstGeom>
          <a:solidFill>
            <a:srgbClr val="4F7CFF">
              <a:alpha val="2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71664" y="8834437"/>
            <a:ext cx="86394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64212" y="8739188"/>
            <a:ext cx="723900" cy="452438"/>
          </a:xfrm>
          <a:prstGeom prst="roundRect">
            <a:avLst>
              <a:gd name="adj" fmla="val 50000"/>
            </a:avLst>
          </a:prstGeom>
          <a:solidFill>
            <a:srgbClr val="4F7CFF">
              <a:alpha val="2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954712" y="8834437"/>
            <a:ext cx="419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15450" y="2262188"/>
            <a:ext cx="7981950" cy="7339012"/>
          </a:xfrm>
          <a:prstGeom prst="roundRect">
            <a:avLst>
              <a:gd name="adj" fmla="val 3115"/>
            </a:avLst>
          </a:prstGeom>
          <a:gradFill rotWithShape="1">
            <a:gsLst>
              <a:gs pos="0">
                <a:srgbClr val="22D3EE">
                  <a:alpha val="18000"/>
                </a:srgbClr>
              </a:gs>
              <a:gs pos="100000">
                <a:srgbClr val="22D3EE">
                  <a:alpha val="5000"/>
                </a:srgbClr>
              </a:gs>
            </a:gsLst>
            <a:lin ang="4200000" scaled="0"/>
          </a:gradFill>
          <a:ln w="9525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05975" y="2671763"/>
            <a:ext cx="792099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9705975" y="3505200"/>
            <a:ext cx="792099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Structure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9705975" y="3957638"/>
            <a:ext cx="792099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B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trúc vật lý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705975" y="4467225"/>
            <a:ext cx="7416927" cy="705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D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</a:t>
            </a:r>
            <a:pPr algn="l" indent="0" marL="0">
              <a:lnSpc>
                <a:spcPct val="126545"/>
              </a:lnSpc>
              <a:buNone/>
            </a:pPr>
            <a:r>
              <a:rPr lang="en-US" sz="1800" b="1" dirty="0">
                <a:solidFill>
                  <a:srgbClr val="D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cứng &amp; vị trí thật </a:t>
            </a:r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D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server và địa điểm mạng — được thiết kế theo mô hình tổ chức của công ty.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705975" y="8739188"/>
            <a:ext cx="2337495" cy="452438"/>
          </a:xfrm>
          <a:prstGeom prst="roundRect">
            <a:avLst>
              <a:gd name="adj" fmla="val 50000"/>
            </a:avLst>
          </a:prstGeom>
          <a:solidFill>
            <a:srgbClr val="22D3EE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896475" y="8834437"/>
            <a:ext cx="203269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Controllers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157770" y="8739188"/>
            <a:ext cx="889248" cy="452438"/>
          </a:xfrm>
          <a:prstGeom prst="roundRect">
            <a:avLst>
              <a:gd name="adj" fmla="val 50000"/>
            </a:avLst>
          </a:prstGeom>
          <a:solidFill>
            <a:srgbClr val="22D3EE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348270" y="8834437"/>
            <a:ext cx="5844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F7CFF">
                  <a:alpha val="22000"/>
                </a:srgbClr>
              </a:gs>
              <a:gs pos="60000">
                <a:srgbClr val="4F7CFF">
                  <a:alpha val="0"/>
                </a:srgbClr>
              </a:gs>
            </a:gsLst>
            <a:path path="circle">
              <a:fillToRect l="92000" t="0" r="8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90600" y="800100"/>
            <a:ext cx="1346597" cy="366713"/>
          </a:xfrm>
          <a:prstGeom prst="roundRect">
            <a:avLst>
              <a:gd name="adj" fmla="val 25974"/>
            </a:avLst>
          </a:prstGeom>
          <a:gradFill rotWithShape="1">
            <a:gsLst>
              <a:gs pos="0">
                <a:srgbClr val="4F7CFF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123950" y="876300"/>
            <a:ext cx="115609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9597" y="862013"/>
            <a:ext cx="2567397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STRUCTURE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1319213"/>
            <a:ext cx="1793748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75" kern="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trúc luận lý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990600" y="3802856"/>
            <a:ext cx="7308279" cy="10144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90600" y="3802856"/>
            <a:ext cx="38100" cy="1014413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3974306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4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2533650" y="3974306"/>
            <a:ext cx="57223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hợp </a:t>
            </a:r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hay nhiều Tree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ranh giới bảo mật cao nhất.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90600" y="4969669"/>
            <a:ext cx="7308279" cy="10144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90600" y="4969669"/>
            <a:ext cx="38100" cy="1014413"/>
          </a:xfrm>
          <a:prstGeom prst="rect">
            <a:avLst/>
          </a:prstGeom>
          <a:solidFill>
            <a:srgbClr val="7C8B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141119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9E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533650" y="5141119"/>
            <a:ext cx="57223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Domain </a:t>
            </a:r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chung namespace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tục (vd: *.microsoft.com).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90600" y="6136481"/>
            <a:ext cx="7308279" cy="6810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90600" y="6136481"/>
            <a:ext cx="38100" cy="681038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" y="6307931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533650" y="6307931"/>
            <a:ext cx="519282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vị quản trị &amp; bảo mật </a:t>
            </a:r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bản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của AD.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990600" y="6969919"/>
            <a:ext cx="7308279" cy="10144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90600" y="6969919"/>
            <a:ext cx="38100" cy="1014413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1238250" y="7141369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9B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2533650" y="7141369"/>
            <a:ext cx="57223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Unit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nhóm nhỏ để tổ chức &amp; áp policy.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8717979" y="2744539"/>
            <a:ext cx="8579421" cy="6298109"/>
          </a:xfrm>
          <a:prstGeom prst="roundRect">
            <a:avLst>
              <a:gd name="adj" fmla="val 363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8B96FF">
                <a:alpha val="16000"/>
              </a:srgbClr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13254" y="3039814"/>
            <a:ext cx="7988871" cy="56694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18000"/>
                </a:srgbClr>
              </a:gs>
              <a:gs pos="60000">
                <a:srgbClr val="22D3EE">
                  <a:alpha val="0"/>
                </a:srgbClr>
              </a:gs>
            </a:gsLst>
            <a:path path="circle">
              <a:fillToRect l="92000" t="0" r="8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90600" y="800100"/>
            <a:ext cx="1346597" cy="366713"/>
          </a:xfrm>
          <a:prstGeom prst="roundRect">
            <a:avLst>
              <a:gd name="adj" fmla="val 25974"/>
            </a:avLst>
          </a:prstGeom>
          <a:gradFill rotWithShape="1">
            <a:gsLst>
              <a:gs pos="0">
                <a:srgbClr val="4F7CFF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123950" y="876300"/>
            <a:ext cx="115609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9597" y="862013"/>
            <a:ext cx="2727179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STRUCTURE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1319213"/>
            <a:ext cx="1793748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75" kern="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trúc vật lý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990600" y="4002881"/>
            <a:ext cx="6513909" cy="1785938"/>
          </a:xfrm>
          <a:prstGeom prst="roundRect">
            <a:avLst>
              <a:gd name="adj" fmla="val 1066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96FF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5875" y="4279106"/>
            <a:ext cx="40005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743075" y="4336256"/>
            <a:ext cx="25108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Controllers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85875" y="4817269"/>
            <a:ext cx="610106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</a:t>
            </a:r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dịch vụ AD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lưu bản sao cơ sở dữ liệu &amp; xử lý đăng nhập, xác thực.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90600" y="5998369"/>
            <a:ext cx="6513909" cy="1785938"/>
          </a:xfrm>
          <a:prstGeom prst="roundRect">
            <a:avLst>
              <a:gd name="adj" fmla="val 1066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96FF">
                <a:alpha val="2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5875" y="6274594"/>
            <a:ext cx="40005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743075" y="6331744"/>
            <a:ext cx="66913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85875" y="6812756"/>
            <a:ext cx="610106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máy theo </a:t>
            </a:r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vị trí mạng (subnet)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5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Giúp tối ưu lưu lượng nhân bản giữa các văn phòng.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7923609" y="2717006"/>
            <a:ext cx="9373716" cy="6353175"/>
          </a:xfrm>
          <a:prstGeom prst="roundRect">
            <a:avLst>
              <a:gd name="adj" fmla="val 359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8B96FF">
                <a:alpha val="16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8884" y="3050381"/>
            <a:ext cx="966148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9B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MẠNG NHIỀU SITE</a:t>
            </a:r>
            <a:endParaRPr lang="en-US" sz="1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8884" y="3483769"/>
            <a:ext cx="8783166" cy="52149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58000">
                <a:srgbClr val="8B5CF6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90600" y="800100"/>
            <a:ext cx="1346597" cy="366713"/>
          </a:xfrm>
          <a:prstGeom prst="roundRect">
            <a:avLst>
              <a:gd name="adj" fmla="val 25974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123950" y="876300"/>
            <a:ext cx="115609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9597" y="862013"/>
            <a:ext cx="1865977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1319213"/>
            <a:ext cx="1793748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75" kern="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— 5 bước trên Windows Server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90600" y="1995487"/>
            <a:ext cx="179374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hiện tuần tự từ trên xuống để dựng và bảo vệ một domain hoàn chỉnh.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90600" y="2595563"/>
            <a:ext cx="3093690" cy="7005638"/>
          </a:xfrm>
          <a:prstGeom prst="roundRect">
            <a:avLst>
              <a:gd name="adj" fmla="val 615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96F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8725" y="2871788"/>
            <a:ext cx="533400" cy="5334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4F7CFF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1190625" y="287178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28725" y="3595688"/>
            <a:ext cx="287918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228725" y="4281488"/>
            <a:ext cx="269596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Domain Controller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28725" y="4929188"/>
            <a:ext cx="2695963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AD DS &amp; promote server thành DC đầu tiên.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93840" y="2595563"/>
            <a:ext cx="3093690" cy="7005638"/>
          </a:xfrm>
          <a:prstGeom prst="roundRect">
            <a:avLst>
              <a:gd name="adj" fmla="val 615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96F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1965" y="2871788"/>
            <a:ext cx="533400" cy="5334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4F7CFF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6" name="Text 14"/>
          <p:cNvSpPr/>
          <p:nvPr/>
        </p:nvSpPr>
        <p:spPr>
          <a:xfrm>
            <a:off x="4493865" y="287178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531965" y="3595688"/>
            <a:ext cx="287918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4531965" y="4281488"/>
            <a:ext cx="28791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OU &amp; User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31965" y="4643438"/>
            <a:ext cx="269596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 chức OU và tạo tài khoản người dùng.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597080" y="2595563"/>
            <a:ext cx="3093765" cy="7005638"/>
          </a:xfrm>
          <a:prstGeom prst="roundRect">
            <a:avLst>
              <a:gd name="adj" fmla="val 615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96FF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35205" y="2871788"/>
            <a:ext cx="533400" cy="5334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4F7CFF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2" name="Text 20"/>
          <p:cNvSpPr/>
          <p:nvPr/>
        </p:nvSpPr>
        <p:spPr>
          <a:xfrm>
            <a:off x="7797105" y="287178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835205" y="3595688"/>
            <a:ext cx="287926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7835205" y="4281488"/>
            <a:ext cx="28792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máy vào domain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835205" y="4643438"/>
            <a:ext cx="269604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Đưa máy client gia nhập domain corp.vn.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900395" y="2595563"/>
            <a:ext cx="3093690" cy="7005638"/>
          </a:xfrm>
          <a:prstGeom prst="roundRect">
            <a:avLst>
              <a:gd name="adj" fmla="val 615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96FF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138520" y="2871788"/>
            <a:ext cx="533400" cy="5334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4F7CFF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8" name="Text 26"/>
          <p:cNvSpPr/>
          <p:nvPr/>
        </p:nvSpPr>
        <p:spPr>
          <a:xfrm>
            <a:off x="11100420" y="287178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138520" y="3595688"/>
            <a:ext cx="287918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11138520" y="4281488"/>
            <a:ext cx="269596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Domain Controller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138520" y="4929188"/>
            <a:ext cx="269596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A8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DC dự phòng để tăng độ sẵn sàng.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4203635" y="2595563"/>
            <a:ext cx="3093690" cy="7005638"/>
          </a:xfrm>
          <a:prstGeom prst="roundRect">
            <a:avLst>
              <a:gd name="adj" fmla="val 6158"/>
            </a:avLst>
          </a:prstGeom>
          <a:gradFill rotWithShape="1">
            <a:gsLst>
              <a:gs pos="0">
                <a:srgbClr val="22D3EE">
                  <a:alpha val="16000"/>
                </a:srgbClr>
              </a:gs>
              <a:gs pos="100000">
                <a:srgbClr val="8B5CF6">
                  <a:alpha val="12000"/>
                </a:srgbClr>
              </a:gs>
            </a:gsLst>
            <a:lin ang="4200000" scaled="0"/>
          </a:gradFill>
          <a:ln w="9525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441760" y="2871788"/>
            <a:ext cx="533400" cy="5334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4F7CFF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4" name="Text 32"/>
          <p:cNvSpPr/>
          <p:nvPr/>
        </p:nvSpPr>
        <p:spPr>
          <a:xfrm>
            <a:off x="14403660" y="287178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4441760" y="3595688"/>
            <a:ext cx="287918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3300" dirty="0"/>
          </a:p>
        </p:txBody>
      </p:sp>
      <p:sp>
        <p:nvSpPr>
          <p:cNvPr id="36" name="Text 34"/>
          <p:cNvSpPr/>
          <p:nvPr/>
        </p:nvSpPr>
        <p:spPr>
          <a:xfrm>
            <a:off x="14441760" y="4281488"/>
            <a:ext cx="28791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/ Restore DC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4441760" y="4643438"/>
            <a:ext cx="269596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CD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 lưu &amp; khôi phục Domain Controller.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B5CF6">
                  <a:alpha val="30000"/>
                </a:srgbClr>
              </a:gs>
              <a:gs pos="60000">
                <a:srgbClr val="8B5CF6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519500" y="3224213"/>
            <a:ext cx="32489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spc="450" kern="0" dirty="0">
                <a:solidFill>
                  <a:srgbClr val="8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MODULE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7580319" y="3757613"/>
            <a:ext cx="312728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9000" b="1" spc="-225" kern="0" dirty="0">
                <a:gradFill rotWithShape="1"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A9BAFF">
                        <a:alpha val="100000"/>
                      </a:srgbClr>
                    </a:gs>
                    <a:gs pos="100000">
                      <a:srgbClr val="C4A9FF">
                        <a:alpha val="100000"/>
                      </a:srgbClr>
                    </a:gs>
                  </a:gsLst>
                  <a:lin ang="18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729163" y="5224463"/>
            <a:ext cx="8829675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CD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bạn đã hoàn thành module </a:t>
            </a:r>
            <a:pPr algn="ctr" indent="0" marL="0">
              <a:lnSpc>
                <a:spcPct val="121739"/>
              </a:lnSpc>
              <a:buNone/>
            </a:pPr>
            <a:r>
              <a:rPr lang="en-US" sz="2250" b="1" dirty="0">
                <a:solidFill>
                  <a:srgbClr val="CD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</a:t>
            </a:r>
            <a:pPr algn="ctr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CD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Hãy bắt tay vào phần thực hành để làm chủ dịch vụ thư mục!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7414989" y="6567488"/>
            <a:ext cx="495300" cy="495300"/>
          </a:xfrm>
          <a:prstGeom prst="ellipse">
            <a:avLst/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7376889" y="6567488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YN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8062689" y="6581775"/>
            <a:ext cx="309127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Biên soạn: Yên Nguyễn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62689" y="6843713"/>
            <a:ext cx="309127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7C8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Yên Nguyễn — All Rights Reserved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2026-07-17T11:41:52Z</dcterms:created>
  <dcterms:modified xsi:type="dcterms:W3CDTF">2026-07-17T11:41:52Z</dcterms:modified>
</cp:coreProperties>
</file>