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801100" cy="50168175"/>
  <p:notesSz cx="50168175" cy="88011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01100" cy="50063102"/>
          </a:xfrm>
          <a:prstGeom prst="rect">
            <a:avLst/>
          </a:prstGeom>
          <a:gradFill rotWithShape="1">
            <a:gsLst>
              <a:gs pos="0">
                <a:srgbClr val="DADDE6">
                  <a:alpha val="100000"/>
                </a:srgbClr>
              </a:gs>
              <a:gs pos="100000">
                <a:srgbClr val="EEF0F4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" y="381000"/>
            <a:ext cx="8343900" cy="2785765"/>
          </a:xfrm>
          <a:prstGeom prst="roundRect">
            <a:avLst>
              <a:gd name="adj" fmla="val 6155"/>
            </a:avLst>
          </a:prstGeom>
          <a:solidFill>
            <a:srgbClr val="0B1020"/>
          </a:solidFill>
          <a:ln/>
          <a:effectLst>
            <a:outerShdw sx="100000" sy="100000" kx="0" ky="0" algn="bl" rotWithShape="0" blurRad="476250" dist="190500" dir="5400000">
              <a:srgbClr val="0B1020">
                <a:alpha val="7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381000"/>
            <a:ext cx="8343900" cy="2785765"/>
          </a:xfrm>
          <a:prstGeom prst="rect">
            <a:avLst/>
          </a:prstGeom>
          <a:gradFill rotWithShape="1">
            <a:gsLst>
              <a:gs pos="0">
                <a:srgbClr val="7C5CFF">
                  <a:alpha val="6000"/>
                </a:srgbClr>
              </a:gs>
              <a:gs pos="100000">
                <a:srgbClr val="7C5C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6667500" y="-19050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7C5CFF">
                  <a:alpha val="33000"/>
                </a:srgbClr>
              </a:gs>
              <a:gs pos="70000">
                <a:srgbClr val="7C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609600" y="742950"/>
            <a:ext cx="1727895" cy="285750"/>
          </a:xfrm>
          <a:prstGeom prst="roundRect">
            <a:avLst>
              <a:gd name="adj" fmla="val 50000"/>
            </a:avLst>
          </a:prstGeom>
          <a:ln w="9525">
            <a:solidFill>
              <a:srgbClr val="2C2F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3425" y="852488"/>
            <a:ext cx="66675" cy="66675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95250" dist="50800" dir="16200000">
              <a:srgbClr val="7C5CFF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6300" y="809625"/>
            <a:ext cx="1413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A9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BÀI 8 · LAB VTI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200150"/>
            <a:ext cx="5101590" cy="819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50" b="1" spc="-29" kern="0" dirty="0">
                <a:solidFill>
                  <a:srgbClr val="E8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· Inter-VLAN Routing &amp; DHCP </a:t>
            </a:r>
            <a:pPr algn="l" indent="0" marL="0">
              <a:lnSpc>
                <a:spcPct val="108000"/>
              </a:lnSpc>
              <a:buNone/>
            </a:pPr>
            <a:r>
              <a:rPr lang="en-US" sz="2850" b="1" spc="-29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Router-on-a-Stick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09600" y="2096244"/>
            <a:ext cx="510159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63" dirty="0">
                <a:solidFill>
                  <a:srgbClr val="9A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3 VLAN trên hệ thống Switch phân tầng, định tuyến liên VLAN qua một cổng Router duy nhất và cấp phát IP động bằng DHCP server trên Router.</a:t>
            </a:r>
            <a:endParaRPr lang="en-US" sz="1163" dirty="0"/>
          </a:p>
        </p:txBody>
      </p:sp>
      <p:sp>
        <p:nvSpPr>
          <p:cNvPr id="11" name="Shape 9"/>
          <p:cNvSpPr/>
          <p:nvPr/>
        </p:nvSpPr>
        <p:spPr>
          <a:xfrm>
            <a:off x="6610350" y="742950"/>
            <a:ext cx="1581150" cy="347663"/>
          </a:xfrm>
          <a:prstGeom prst="roundRect">
            <a:avLst>
              <a:gd name="adj" fmla="val 30137"/>
            </a:avLst>
          </a:prstGeom>
          <a:solidFill>
            <a:srgbClr val="141A32"/>
          </a:solidFill>
          <a:ln w="9525">
            <a:solidFill>
              <a:srgbClr val="232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3700" y="873919"/>
            <a:ext cx="85725" cy="8572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915150" y="838200"/>
            <a:ext cx="9334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 — IT</a:t>
            </a:r>
            <a:endParaRPr lang="en-US" sz="938" dirty="0"/>
          </a:p>
        </p:txBody>
      </p:sp>
      <p:sp>
        <p:nvSpPr>
          <p:cNvPr id="14" name="Shape 12"/>
          <p:cNvSpPr/>
          <p:nvPr/>
        </p:nvSpPr>
        <p:spPr>
          <a:xfrm>
            <a:off x="6610350" y="1185863"/>
            <a:ext cx="1581150" cy="347663"/>
          </a:xfrm>
          <a:prstGeom prst="roundRect">
            <a:avLst>
              <a:gd name="adj" fmla="val 30137"/>
            </a:avLst>
          </a:prstGeom>
          <a:solidFill>
            <a:srgbClr val="141A32"/>
          </a:solidFill>
          <a:ln w="9525">
            <a:solidFill>
              <a:srgbClr val="232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43700" y="1316831"/>
            <a:ext cx="85725" cy="85725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915150" y="1281113"/>
            <a:ext cx="11477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 — Staff</a:t>
            </a:r>
            <a:endParaRPr lang="en-US" sz="938" dirty="0"/>
          </a:p>
        </p:txBody>
      </p:sp>
      <p:sp>
        <p:nvSpPr>
          <p:cNvPr id="17" name="Shape 15"/>
          <p:cNvSpPr/>
          <p:nvPr/>
        </p:nvSpPr>
        <p:spPr>
          <a:xfrm>
            <a:off x="6610350" y="1628775"/>
            <a:ext cx="1581150" cy="347663"/>
          </a:xfrm>
          <a:prstGeom prst="roundRect">
            <a:avLst>
              <a:gd name="adj" fmla="val 30137"/>
            </a:avLst>
          </a:prstGeom>
          <a:solidFill>
            <a:srgbClr val="141A32"/>
          </a:solidFill>
          <a:ln w="9525">
            <a:solidFill>
              <a:srgbClr val="232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3700" y="175974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915150" y="1724025"/>
            <a:ext cx="12192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30 — Server</a:t>
            </a:r>
            <a:endParaRPr lang="en-US" sz="938" dirty="0"/>
          </a:p>
        </p:txBody>
      </p:sp>
      <p:sp>
        <p:nvSpPr>
          <p:cNvPr id="20" name="Shape 18"/>
          <p:cNvSpPr/>
          <p:nvPr/>
        </p:nvSpPr>
        <p:spPr>
          <a:xfrm>
            <a:off x="228600" y="3414415"/>
            <a:ext cx="2692375" cy="1128713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575" y="3595390"/>
            <a:ext cx="256346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9575" y="3781127"/>
            <a:ext cx="25634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3 VLAN</a:t>
            </a:r>
            <a:endParaRPr lang="en-US" sz="1163" dirty="0"/>
          </a:p>
        </p:txBody>
      </p:sp>
      <p:sp>
        <p:nvSpPr>
          <p:cNvPr id="23" name="Text 21"/>
          <p:cNvSpPr/>
          <p:nvPr/>
        </p:nvSpPr>
        <p:spPr>
          <a:xfrm>
            <a:off x="409575" y="4009727"/>
            <a:ext cx="2406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Staff và Server tách biệt nhau ở Layer 2.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3054325" y="3414415"/>
            <a:ext cx="2692375" cy="1128713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5300" y="3595390"/>
            <a:ext cx="256346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5300" y="3781127"/>
            <a:ext cx="25634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cấp DHCP</a:t>
            </a:r>
            <a:endParaRPr lang="en-US" sz="1163" dirty="0"/>
          </a:p>
        </p:txBody>
      </p:sp>
      <p:sp>
        <p:nvSpPr>
          <p:cNvPr id="27" name="Text 25"/>
          <p:cNvSpPr/>
          <p:nvPr/>
        </p:nvSpPr>
        <p:spPr>
          <a:xfrm>
            <a:off x="3235300" y="4009727"/>
            <a:ext cx="2406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VLAN nhận IP động từ pool riêng trên Router.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5880050" y="3414415"/>
            <a:ext cx="2692375" cy="1128713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1025" y="3595390"/>
            <a:ext cx="256346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61025" y="3781127"/>
            <a:ext cx="25634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VLAN ping được nhau</a:t>
            </a:r>
            <a:endParaRPr lang="en-US" sz="1163" dirty="0"/>
          </a:p>
        </p:txBody>
      </p:sp>
      <p:sp>
        <p:nvSpPr>
          <p:cNvPr id="31" name="Text 29"/>
          <p:cNvSpPr/>
          <p:nvPr/>
        </p:nvSpPr>
        <p:spPr>
          <a:xfrm>
            <a:off x="6061025" y="4009727"/>
            <a:ext cx="25634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Inter-VLAN routing hoạt động qua G0/0.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228600" y="4790777"/>
            <a:ext cx="8343900" cy="2176463"/>
          </a:xfrm>
          <a:prstGeom prst="roundRect">
            <a:avLst>
              <a:gd name="adj" fmla="val 700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8125" y="5295602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34" name="Text 32"/>
          <p:cNvSpPr/>
          <p:nvPr/>
        </p:nvSpPr>
        <p:spPr>
          <a:xfrm>
            <a:off x="447675" y="4952702"/>
            <a:ext cx="8400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IP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06785" y="4971752"/>
            <a:ext cx="1104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addressing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7675" y="5409902"/>
            <a:ext cx="9870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63" dirty="0"/>
          </a:p>
        </p:txBody>
      </p:sp>
      <p:sp>
        <p:nvSpPr>
          <p:cNvPr id="37" name="Text 35"/>
          <p:cNvSpPr/>
          <p:nvPr/>
        </p:nvSpPr>
        <p:spPr>
          <a:xfrm>
            <a:off x="1777603" y="5409902"/>
            <a:ext cx="12709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63" dirty="0"/>
          </a:p>
        </p:txBody>
      </p:sp>
      <p:sp>
        <p:nvSpPr>
          <p:cNvPr id="38" name="Text 36"/>
          <p:cNvSpPr/>
          <p:nvPr/>
        </p:nvSpPr>
        <p:spPr>
          <a:xfrm>
            <a:off x="3391421" y="5409902"/>
            <a:ext cx="25738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863" dirty="0"/>
          </a:p>
        </p:txBody>
      </p:sp>
      <p:sp>
        <p:nvSpPr>
          <p:cNvPr id="39" name="Text 37"/>
          <p:cNvSpPr/>
          <p:nvPr/>
        </p:nvSpPr>
        <p:spPr>
          <a:xfrm>
            <a:off x="6297216" y="5409902"/>
            <a:ext cx="213240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spc="5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863" dirty="0"/>
          </a:p>
        </p:txBody>
      </p:sp>
      <p:sp>
        <p:nvSpPr>
          <p:cNvPr id="40" name="Shape 38"/>
          <p:cNvSpPr/>
          <p:nvPr/>
        </p:nvSpPr>
        <p:spPr>
          <a:xfrm>
            <a:off x="238125" y="5662315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41" name="Shape 39"/>
          <p:cNvSpPr/>
          <p:nvPr/>
        </p:nvSpPr>
        <p:spPr>
          <a:xfrm>
            <a:off x="447675" y="5843290"/>
            <a:ext cx="85725" cy="8572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09600" y="5812334"/>
            <a:ext cx="23626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777603" y="5786140"/>
            <a:ext cx="12709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391421" y="5786140"/>
            <a:ext cx="257386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192.168.10.0/24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97216" y="5786140"/>
            <a:ext cx="213240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8125" y="6095702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47" name="Shape 45"/>
          <p:cNvSpPr/>
          <p:nvPr/>
        </p:nvSpPr>
        <p:spPr>
          <a:xfrm>
            <a:off x="447675" y="6276677"/>
            <a:ext cx="85725" cy="85725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09600" y="6245721"/>
            <a:ext cx="23626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777603" y="6219527"/>
            <a:ext cx="12709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391421" y="6219527"/>
            <a:ext cx="257386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192.168.20.0/24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97216" y="6219527"/>
            <a:ext cx="213240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38125" y="6529090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53" name="Shape 51"/>
          <p:cNvSpPr/>
          <p:nvPr/>
        </p:nvSpPr>
        <p:spPr>
          <a:xfrm>
            <a:off x="447675" y="6710065"/>
            <a:ext cx="85725" cy="85725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609600" y="6679109"/>
            <a:ext cx="23626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777603" y="6652915"/>
            <a:ext cx="12709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391421" y="6652915"/>
            <a:ext cx="257386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192.168.30.0/24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97216" y="6652915"/>
            <a:ext cx="21324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192.168.30.1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28600" y="7214890"/>
            <a:ext cx="8343900" cy="59436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7675" y="7453015"/>
            <a:ext cx="25951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mạng (Network Topology)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902148" y="7472065"/>
            <a:ext cx="124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router-on-a-stick</a:t>
            </a:r>
            <a:endParaRPr lang="en-US" sz="900" dirty="0"/>
          </a:p>
        </p:txBody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5" y="7719715"/>
            <a:ext cx="8382000" cy="5334000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3829050" y="7795915"/>
            <a:ext cx="16192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9050">
            <a:solidFill>
              <a:srgbClr val="7C5CFF"/>
            </a:solidFill>
            <a:prstDash val="solid"/>
          </a:ln>
          <a:effectLst>
            <a:outerShdw sx="100000" sy="100000" kx="0" ky="0" algn="bl" rotWithShape="0" blurRad="228600" dist="95250" dir="5400000">
              <a:srgbClr val="7C5CFF">
                <a:alpha val="6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4000500" y="7948315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3F0FF"/>
          </a:solidFill>
          <a:ln/>
        </p:spPr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6225" y="8034040"/>
            <a:ext cx="209550" cy="209550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4495800" y="7907834"/>
            <a:ext cx="857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125" dirty="0"/>
          </a:p>
        </p:txBody>
      </p:sp>
      <p:sp>
        <p:nvSpPr>
          <p:cNvPr id="66" name="Text 62"/>
          <p:cNvSpPr/>
          <p:nvPr/>
        </p:nvSpPr>
        <p:spPr>
          <a:xfrm>
            <a:off x="4495800" y="8093571"/>
            <a:ext cx="857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· DHCP</a:t>
            </a:r>
            <a:endParaRPr lang="en-US" sz="825" dirty="0"/>
          </a:p>
        </p:txBody>
      </p:sp>
      <p:sp>
        <p:nvSpPr>
          <p:cNvPr id="67" name="Shape 63"/>
          <p:cNvSpPr/>
          <p:nvPr/>
        </p:nvSpPr>
        <p:spPr>
          <a:xfrm>
            <a:off x="3829050" y="9148465"/>
            <a:ext cx="1619250" cy="628650"/>
          </a:xfrm>
          <a:prstGeom prst="roundRect">
            <a:avLst>
              <a:gd name="adj" fmla="val 1969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9550" dist="95250" dir="5400000">
              <a:srgbClr val="0F172A">
                <a:alpha val="60000"/>
              </a:srgbClr>
            </a:outerShdw>
          </a:effectLst>
        </p:spPr>
      </p:sp>
      <p:sp>
        <p:nvSpPr>
          <p:cNvPr id="68" name="Shape 64"/>
          <p:cNvSpPr/>
          <p:nvPr/>
        </p:nvSpPr>
        <p:spPr>
          <a:xfrm>
            <a:off x="3981450" y="928181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/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7175" y="9367540"/>
            <a:ext cx="190500" cy="190500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4448175" y="9308009"/>
            <a:ext cx="7963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SW-Core</a:t>
            </a:r>
            <a:endParaRPr lang="en-US" sz="1088" dirty="0"/>
          </a:p>
        </p:txBody>
      </p:sp>
      <p:sp>
        <p:nvSpPr>
          <p:cNvPr id="71" name="Text 66"/>
          <p:cNvSpPr/>
          <p:nvPr/>
        </p:nvSpPr>
        <p:spPr>
          <a:xfrm>
            <a:off x="4448175" y="9484221"/>
            <a:ext cx="796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C8D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</a:t>
            </a:r>
            <a:endParaRPr lang="en-US" sz="788" dirty="0"/>
          </a:p>
        </p:txBody>
      </p:sp>
      <p:sp>
        <p:nvSpPr>
          <p:cNvPr id="72" name="Shape 67"/>
          <p:cNvSpPr/>
          <p:nvPr/>
        </p:nvSpPr>
        <p:spPr>
          <a:xfrm>
            <a:off x="1114425" y="10577215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262063" y="1071056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FF3F8"/>
          </a:solidFill>
          <a:ln/>
        </p:spPr>
      </p:sp>
      <p:pic>
        <p:nvPicPr>
          <p:cNvPr id="7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8738" y="10777240"/>
            <a:ext cx="171450" cy="171450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1662113" y="10720090"/>
            <a:ext cx="4191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SW-1</a:t>
            </a:r>
            <a:endParaRPr lang="en-US" sz="1013" dirty="0"/>
          </a:p>
        </p:txBody>
      </p:sp>
      <p:sp>
        <p:nvSpPr>
          <p:cNvPr id="76" name="Text 70"/>
          <p:cNvSpPr/>
          <p:nvPr/>
        </p:nvSpPr>
        <p:spPr>
          <a:xfrm>
            <a:off x="1662113" y="10886777"/>
            <a:ext cx="4191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750" dirty="0"/>
          </a:p>
        </p:txBody>
      </p:sp>
      <p:sp>
        <p:nvSpPr>
          <p:cNvPr id="77" name="Shape 71"/>
          <p:cNvSpPr/>
          <p:nvPr/>
        </p:nvSpPr>
        <p:spPr>
          <a:xfrm>
            <a:off x="3924300" y="10577215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4071938" y="1071056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FF3F8"/>
          </a:solidFill>
          <a:ln/>
        </p:spPr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38613" y="10777240"/>
            <a:ext cx="171450" cy="171450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4471988" y="10720090"/>
            <a:ext cx="4191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SW-2</a:t>
            </a:r>
            <a:endParaRPr lang="en-US" sz="1013" dirty="0"/>
          </a:p>
        </p:txBody>
      </p:sp>
      <p:sp>
        <p:nvSpPr>
          <p:cNvPr id="81" name="Text 74"/>
          <p:cNvSpPr/>
          <p:nvPr/>
        </p:nvSpPr>
        <p:spPr>
          <a:xfrm>
            <a:off x="4471988" y="10886777"/>
            <a:ext cx="4191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750" dirty="0"/>
          </a:p>
        </p:txBody>
      </p:sp>
      <p:sp>
        <p:nvSpPr>
          <p:cNvPr id="82" name="Shape 75"/>
          <p:cNvSpPr/>
          <p:nvPr/>
        </p:nvSpPr>
        <p:spPr>
          <a:xfrm>
            <a:off x="6734175" y="10577215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6881813" y="1071056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FF3F8"/>
          </a:solidFill>
          <a:ln/>
        </p:spPr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48488" y="10777240"/>
            <a:ext cx="171450" cy="171450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7281863" y="10720090"/>
            <a:ext cx="4191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SW-3</a:t>
            </a:r>
            <a:endParaRPr lang="en-US" sz="1013" dirty="0"/>
          </a:p>
        </p:txBody>
      </p:sp>
      <p:sp>
        <p:nvSpPr>
          <p:cNvPr id="86" name="Text 78"/>
          <p:cNvSpPr/>
          <p:nvPr/>
        </p:nvSpPr>
        <p:spPr>
          <a:xfrm>
            <a:off x="7281863" y="10886777"/>
            <a:ext cx="4191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750" dirty="0"/>
          </a:p>
        </p:txBody>
      </p:sp>
      <p:sp>
        <p:nvSpPr>
          <p:cNvPr id="87" name="Shape 79"/>
          <p:cNvSpPr/>
          <p:nvPr/>
        </p:nvSpPr>
        <p:spPr>
          <a:xfrm>
            <a:off x="1162050" y="11910715"/>
            <a:ext cx="1333500" cy="9525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209550" dist="95250" dir="5400000">
              <a:srgbClr val="3B82F6">
                <a:alpha val="70000"/>
              </a:srgbClr>
            </a:outerShdw>
          </a:effectLst>
        </p:spPr>
      </p:sp>
      <p:pic>
        <p:nvPicPr>
          <p:cNvPr id="8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04975" y="12036921"/>
            <a:ext cx="247650" cy="247650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1566416" y="12341721"/>
            <a:ext cx="60096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Laptop0</a:t>
            </a:r>
            <a:endParaRPr lang="en-US" sz="1013" dirty="0"/>
          </a:p>
        </p:txBody>
      </p:sp>
      <p:sp>
        <p:nvSpPr>
          <p:cNvPr id="90" name="Shape 81"/>
          <p:cNvSpPr/>
          <p:nvPr/>
        </p:nvSpPr>
        <p:spPr>
          <a:xfrm>
            <a:off x="1392510" y="12565559"/>
            <a:ext cx="872505" cy="17145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/>
        </p:spPr>
      </p:sp>
      <p:sp>
        <p:nvSpPr>
          <p:cNvPr id="91" name="Text 82"/>
          <p:cNvSpPr/>
          <p:nvPr/>
        </p:nvSpPr>
        <p:spPr>
          <a:xfrm>
            <a:off x="1468710" y="12584609"/>
            <a:ext cx="796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 · IT</a:t>
            </a:r>
            <a:endParaRPr lang="en-US" sz="788" dirty="0"/>
          </a:p>
        </p:txBody>
      </p:sp>
      <p:sp>
        <p:nvSpPr>
          <p:cNvPr id="92" name="Shape 83"/>
          <p:cNvSpPr/>
          <p:nvPr/>
        </p:nvSpPr>
        <p:spPr>
          <a:xfrm>
            <a:off x="3971925" y="11910715"/>
            <a:ext cx="1333500" cy="9525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209550" dist="95250" dir="5400000">
              <a:srgbClr val="F59E0B">
                <a:alpha val="70000"/>
              </a:srgbClr>
            </a:outerShdw>
          </a:effectLst>
        </p:spPr>
      </p:sp>
      <p:pic>
        <p:nvPicPr>
          <p:cNvPr id="9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14850" y="12036921"/>
            <a:ext cx="247650" cy="247650"/>
          </a:xfrm>
          <a:prstGeom prst="rect">
            <a:avLst/>
          </a:prstGeom>
        </p:spPr>
      </p:pic>
      <p:sp>
        <p:nvSpPr>
          <p:cNvPr id="94" name="Text 84"/>
          <p:cNvSpPr/>
          <p:nvPr/>
        </p:nvSpPr>
        <p:spPr>
          <a:xfrm>
            <a:off x="4440510" y="12341721"/>
            <a:ext cx="47252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13" dirty="0"/>
          </a:p>
        </p:txBody>
      </p:sp>
      <p:sp>
        <p:nvSpPr>
          <p:cNvPr id="95" name="Shape 85"/>
          <p:cNvSpPr/>
          <p:nvPr/>
        </p:nvSpPr>
        <p:spPr>
          <a:xfrm>
            <a:off x="4082355" y="12565559"/>
            <a:ext cx="1112565" cy="17145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/>
        </p:spPr>
      </p:sp>
      <p:sp>
        <p:nvSpPr>
          <p:cNvPr id="96" name="Text 86"/>
          <p:cNvSpPr/>
          <p:nvPr/>
        </p:nvSpPr>
        <p:spPr>
          <a:xfrm>
            <a:off x="4158555" y="12584609"/>
            <a:ext cx="10363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30 · Server</a:t>
            </a:r>
            <a:endParaRPr lang="en-US" sz="788" dirty="0"/>
          </a:p>
        </p:txBody>
      </p:sp>
      <p:sp>
        <p:nvSpPr>
          <p:cNvPr id="97" name="Shape 87"/>
          <p:cNvSpPr/>
          <p:nvPr/>
        </p:nvSpPr>
        <p:spPr>
          <a:xfrm>
            <a:off x="6781800" y="11910715"/>
            <a:ext cx="1333500" cy="9525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209550" dist="95250" dir="5400000">
              <a:srgbClr val="10B981">
                <a:alpha val="70000"/>
              </a:srgbClr>
            </a:outerShdw>
          </a:effectLst>
        </p:spPr>
      </p:sp>
      <p:pic>
        <p:nvPicPr>
          <p:cNvPr id="9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24725" y="12036921"/>
            <a:ext cx="247650" cy="247650"/>
          </a:xfrm>
          <a:prstGeom prst="rect">
            <a:avLst/>
          </a:prstGeom>
        </p:spPr>
      </p:pic>
      <p:sp>
        <p:nvSpPr>
          <p:cNvPr id="99" name="Text 88"/>
          <p:cNvSpPr/>
          <p:nvPr/>
        </p:nvSpPr>
        <p:spPr>
          <a:xfrm>
            <a:off x="7189366" y="12341721"/>
            <a:ext cx="59449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Laptop2</a:t>
            </a:r>
            <a:endParaRPr lang="en-US" sz="1013" dirty="0"/>
          </a:p>
        </p:txBody>
      </p:sp>
      <p:sp>
        <p:nvSpPr>
          <p:cNvPr id="100" name="Shape 89"/>
          <p:cNvSpPr/>
          <p:nvPr/>
        </p:nvSpPr>
        <p:spPr>
          <a:xfrm>
            <a:off x="6922294" y="12565559"/>
            <a:ext cx="1052513" cy="17145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</p:sp>
      <p:sp>
        <p:nvSpPr>
          <p:cNvPr id="101" name="Text 90"/>
          <p:cNvSpPr/>
          <p:nvPr/>
        </p:nvSpPr>
        <p:spPr>
          <a:xfrm>
            <a:off x="6998494" y="12584609"/>
            <a:ext cx="97631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 · Staff</a:t>
            </a:r>
            <a:endParaRPr lang="en-US" sz="788" dirty="0"/>
          </a:p>
        </p:txBody>
      </p:sp>
      <p:sp>
        <p:nvSpPr>
          <p:cNvPr id="102" name="Text 91"/>
          <p:cNvSpPr/>
          <p:nvPr/>
        </p:nvSpPr>
        <p:spPr>
          <a:xfrm>
            <a:off x="228600" y="13482340"/>
            <a:ext cx="19712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bước cấu hình</a:t>
            </a:r>
            <a:endParaRPr lang="en-US" sz="1650" dirty="0"/>
          </a:p>
        </p:txBody>
      </p:sp>
      <p:sp>
        <p:nvSpPr>
          <p:cNvPr id="103" name="Shape 92"/>
          <p:cNvSpPr/>
          <p:nvPr/>
        </p:nvSpPr>
        <p:spPr>
          <a:xfrm>
            <a:off x="2153989" y="13596640"/>
            <a:ext cx="5462141" cy="9525"/>
          </a:xfrm>
          <a:prstGeom prst="rect">
            <a:avLst/>
          </a:prstGeom>
          <a:solidFill>
            <a:srgbClr val="D7DBE5"/>
          </a:solidFill>
          <a:ln/>
        </p:spPr>
      </p:sp>
      <p:sp>
        <p:nvSpPr>
          <p:cNvPr id="104" name="Text 93"/>
          <p:cNvSpPr/>
          <p:nvPr/>
        </p:nvSpPr>
        <p:spPr>
          <a:xfrm>
            <a:off x="7749480" y="13525202"/>
            <a:ext cx="8992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step-by-step</a:t>
            </a:r>
            <a:endParaRPr lang="en-US" sz="900" dirty="0"/>
          </a:p>
        </p:txBody>
      </p:sp>
      <p:sp>
        <p:nvSpPr>
          <p:cNvPr id="105" name="Shape 94"/>
          <p:cNvSpPr/>
          <p:nvPr/>
        </p:nvSpPr>
        <p:spPr>
          <a:xfrm>
            <a:off x="228600" y="13968115"/>
            <a:ext cx="8343900" cy="4600575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06" name="Shape 95"/>
          <p:cNvSpPr/>
          <p:nvPr/>
        </p:nvSpPr>
        <p:spPr>
          <a:xfrm>
            <a:off x="238125" y="14682490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107" name="Shape 96"/>
          <p:cNvSpPr/>
          <p:nvPr/>
        </p:nvSpPr>
        <p:spPr>
          <a:xfrm>
            <a:off x="447675" y="1416814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172A"/>
          </a:solidFill>
          <a:ln/>
        </p:spPr>
      </p:sp>
      <p:sp>
        <p:nvSpPr>
          <p:cNvPr id="108" name="Text 97"/>
          <p:cNvSpPr/>
          <p:nvPr/>
        </p:nvSpPr>
        <p:spPr>
          <a:xfrm>
            <a:off x="409575" y="14168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25" dirty="0"/>
          </a:p>
        </p:txBody>
      </p:sp>
      <p:sp>
        <p:nvSpPr>
          <p:cNvPr id="109" name="Text 98"/>
          <p:cNvSpPr/>
          <p:nvPr/>
        </p:nvSpPr>
        <p:spPr>
          <a:xfrm>
            <a:off x="895350" y="14149090"/>
            <a:ext cx="231937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&amp; truy cập thiết bị</a:t>
            </a:r>
            <a:endParaRPr lang="en-US" sz="1275" dirty="0"/>
          </a:p>
        </p:txBody>
      </p:sp>
      <p:sp>
        <p:nvSpPr>
          <p:cNvPr id="110" name="Text 99"/>
          <p:cNvSpPr/>
          <p:nvPr/>
        </p:nvSpPr>
        <p:spPr>
          <a:xfrm>
            <a:off x="895350" y="14353877"/>
            <a:ext cx="23193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secret · console · vty</a:t>
            </a:r>
            <a:endParaRPr lang="en-US" sz="938" dirty="0"/>
          </a:p>
        </p:txBody>
      </p:sp>
      <p:sp>
        <p:nvSpPr>
          <p:cNvPr id="111" name="Shape 100"/>
          <p:cNvSpPr/>
          <p:nvPr/>
        </p:nvSpPr>
        <p:spPr>
          <a:xfrm>
            <a:off x="238125" y="14692015"/>
            <a:ext cx="3048000" cy="386715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12" name="Shape 101"/>
          <p:cNvSpPr/>
          <p:nvPr/>
        </p:nvSpPr>
        <p:spPr>
          <a:xfrm>
            <a:off x="3276600" y="14692015"/>
            <a:ext cx="9525" cy="3867150"/>
          </a:xfrm>
          <a:prstGeom prst="rect">
            <a:avLst/>
          </a:prstGeom>
          <a:solidFill>
            <a:srgbClr val="EEF0F4"/>
          </a:solidFill>
          <a:ln/>
        </p:spPr>
      </p:sp>
      <p:pic>
        <p:nvPicPr>
          <p:cNvPr id="11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7675" y="15577840"/>
            <a:ext cx="2619375" cy="2095500"/>
          </a:xfrm>
          <a:prstGeom prst="rect">
            <a:avLst/>
          </a:prstGeom>
        </p:spPr>
      </p:pic>
      <p:sp>
        <p:nvSpPr>
          <p:cNvPr id="114" name="Shape 102"/>
          <p:cNvSpPr/>
          <p:nvPr/>
        </p:nvSpPr>
        <p:spPr>
          <a:xfrm>
            <a:off x="3286125" y="14692015"/>
            <a:ext cx="5276850" cy="386715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15" name="Shape 103"/>
          <p:cNvSpPr/>
          <p:nvPr/>
        </p:nvSpPr>
        <p:spPr>
          <a:xfrm>
            <a:off x="3286125" y="15153977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16" name="Shape 104"/>
          <p:cNvSpPr/>
          <p:nvPr/>
        </p:nvSpPr>
        <p:spPr>
          <a:xfrm>
            <a:off x="3438525" y="14870609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7" name="Shape 105"/>
          <p:cNvSpPr/>
          <p:nvPr/>
        </p:nvSpPr>
        <p:spPr>
          <a:xfrm>
            <a:off x="3619500" y="14870609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8" name="Shape 106"/>
          <p:cNvSpPr/>
          <p:nvPr/>
        </p:nvSpPr>
        <p:spPr>
          <a:xfrm>
            <a:off x="3800475" y="14870609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9" name="Text 107"/>
          <p:cNvSpPr/>
          <p:nvPr/>
        </p:nvSpPr>
        <p:spPr>
          <a:xfrm>
            <a:off x="4057650" y="14851559"/>
            <a:ext cx="10620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device# console</a:t>
            </a:r>
            <a:endParaRPr lang="en-US" sz="863" dirty="0"/>
          </a:p>
        </p:txBody>
      </p:sp>
      <p:sp>
        <p:nvSpPr>
          <p:cNvPr id="120" name="Shape 108"/>
          <p:cNvSpPr/>
          <p:nvPr/>
        </p:nvSpPr>
        <p:spPr>
          <a:xfrm>
            <a:off x="7778055" y="14796790"/>
            <a:ext cx="632520" cy="252413"/>
          </a:xfrm>
          <a:prstGeom prst="roundRect">
            <a:avLst>
              <a:gd name="adj" fmla="val 26415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12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82830" y="14865846"/>
            <a:ext cx="114300" cy="114300"/>
          </a:xfrm>
          <a:prstGeom prst="rect">
            <a:avLst/>
          </a:prstGeom>
        </p:spPr>
      </p:pic>
      <p:sp>
        <p:nvSpPr>
          <p:cNvPr id="122" name="Text 109"/>
          <p:cNvSpPr/>
          <p:nvPr/>
        </p:nvSpPr>
        <p:spPr>
          <a:xfrm>
            <a:off x="8016180" y="14853940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123" name="Text 110"/>
          <p:cNvSpPr/>
          <p:nvPr/>
        </p:nvSpPr>
        <p:spPr>
          <a:xfrm>
            <a:off x="3457575" y="15334952"/>
            <a:ext cx="5092255" cy="30718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Vào chế độ cấu hình toàn cục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terminal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Đặt mật khẩu enable (quyền admin)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secret love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Cổng console — truy cập trực tiếp qua dây console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console 0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cisco123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exit 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VTY — Telnet/SSH từ xa (16 phiên: 0 → 15)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vty 0 15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cisco123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end</a:t>
            </a:r>
            <a:endParaRPr lang="en-US" sz="975" dirty="0"/>
          </a:p>
        </p:txBody>
      </p:sp>
      <p:sp>
        <p:nvSpPr>
          <p:cNvPr id="124" name="Shape 111"/>
          <p:cNvSpPr/>
          <p:nvPr/>
        </p:nvSpPr>
        <p:spPr>
          <a:xfrm>
            <a:off x="228600" y="18816340"/>
            <a:ext cx="8343900" cy="4817269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238125" y="19530715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126" name="Shape 113"/>
          <p:cNvSpPr/>
          <p:nvPr/>
        </p:nvSpPr>
        <p:spPr>
          <a:xfrm>
            <a:off x="447675" y="1901636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172A"/>
          </a:solidFill>
          <a:ln/>
        </p:spPr>
      </p:sp>
      <p:sp>
        <p:nvSpPr>
          <p:cNvPr id="127" name="Text 114"/>
          <p:cNvSpPr/>
          <p:nvPr/>
        </p:nvSpPr>
        <p:spPr>
          <a:xfrm>
            <a:off x="409575" y="1901636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128" name="Text 115"/>
          <p:cNvSpPr/>
          <p:nvPr/>
        </p:nvSpPr>
        <p:spPr>
          <a:xfrm>
            <a:off x="895350" y="18997315"/>
            <a:ext cx="3771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Core Switch </a:t>
            </a:r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(SW-Core)</a:t>
            </a:r>
            <a:endParaRPr lang="en-US" sz="1275" dirty="0"/>
          </a:p>
        </p:txBody>
      </p:sp>
      <p:sp>
        <p:nvSpPr>
          <p:cNvPr id="129" name="Text 116"/>
          <p:cNvSpPr/>
          <p:nvPr/>
        </p:nvSpPr>
        <p:spPr>
          <a:xfrm>
            <a:off x="895350" y="19202102"/>
            <a:ext cx="37719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tạo VLAN · trunk lên router · trunk xuống access</a:t>
            </a:r>
            <a:endParaRPr lang="en-US" sz="938" dirty="0"/>
          </a:p>
        </p:txBody>
      </p:sp>
      <p:sp>
        <p:nvSpPr>
          <p:cNvPr id="130" name="Shape 117"/>
          <p:cNvSpPr/>
          <p:nvPr/>
        </p:nvSpPr>
        <p:spPr>
          <a:xfrm>
            <a:off x="238125" y="19540240"/>
            <a:ext cx="3048000" cy="40838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31" name="Shape 118"/>
          <p:cNvSpPr/>
          <p:nvPr/>
        </p:nvSpPr>
        <p:spPr>
          <a:xfrm>
            <a:off x="3276600" y="19540240"/>
            <a:ext cx="9525" cy="4083844"/>
          </a:xfrm>
          <a:prstGeom prst="rect">
            <a:avLst/>
          </a:prstGeom>
          <a:solidFill>
            <a:srgbClr val="EEF0F4"/>
          </a:solidFill>
          <a:ln/>
        </p:spPr>
      </p:sp>
      <p:pic>
        <p:nvPicPr>
          <p:cNvPr id="13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7675" y="20534412"/>
            <a:ext cx="2619375" cy="2095500"/>
          </a:xfrm>
          <a:prstGeom prst="rect">
            <a:avLst/>
          </a:prstGeom>
        </p:spPr>
      </p:pic>
      <p:sp>
        <p:nvSpPr>
          <p:cNvPr id="133" name="Shape 119"/>
          <p:cNvSpPr/>
          <p:nvPr/>
        </p:nvSpPr>
        <p:spPr>
          <a:xfrm>
            <a:off x="3286125" y="19540240"/>
            <a:ext cx="5276850" cy="4083844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34" name="Shape 120"/>
          <p:cNvSpPr/>
          <p:nvPr/>
        </p:nvSpPr>
        <p:spPr>
          <a:xfrm>
            <a:off x="3286125" y="20002202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35" name="Shape 121"/>
          <p:cNvSpPr/>
          <p:nvPr/>
        </p:nvSpPr>
        <p:spPr>
          <a:xfrm>
            <a:off x="3438525" y="19718834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6" name="Shape 122"/>
          <p:cNvSpPr/>
          <p:nvPr/>
        </p:nvSpPr>
        <p:spPr>
          <a:xfrm>
            <a:off x="3619500" y="19718834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7" name="Shape 123"/>
          <p:cNvSpPr/>
          <p:nvPr/>
        </p:nvSpPr>
        <p:spPr>
          <a:xfrm>
            <a:off x="3800475" y="19718834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8" name="Text 124"/>
          <p:cNvSpPr/>
          <p:nvPr/>
        </p:nvSpPr>
        <p:spPr>
          <a:xfrm>
            <a:off x="4057650" y="19699784"/>
            <a:ext cx="6020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SW-Core#</a:t>
            </a:r>
            <a:endParaRPr lang="en-US" sz="863" dirty="0"/>
          </a:p>
        </p:txBody>
      </p:sp>
      <p:sp>
        <p:nvSpPr>
          <p:cNvPr id="139" name="Shape 125"/>
          <p:cNvSpPr/>
          <p:nvPr/>
        </p:nvSpPr>
        <p:spPr>
          <a:xfrm>
            <a:off x="7778055" y="19645015"/>
            <a:ext cx="632520" cy="252413"/>
          </a:xfrm>
          <a:prstGeom prst="roundRect">
            <a:avLst>
              <a:gd name="adj" fmla="val 26415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14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82830" y="19714071"/>
            <a:ext cx="114300" cy="114300"/>
          </a:xfrm>
          <a:prstGeom prst="rect">
            <a:avLst/>
          </a:prstGeom>
        </p:spPr>
      </p:pic>
      <p:sp>
        <p:nvSpPr>
          <p:cNvPr id="141" name="Text 126"/>
          <p:cNvSpPr/>
          <p:nvPr/>
        </p:nvSpPr>
        <p:spPr>
          <a:xfrm>
            <a:off x="8016180" y="19702165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142" name="Text 127"/>
          <p:cNvSpPr/>
          <p:nvPr/>
        </p:nvSpPr>
        <p:spPr>
          <a:xfrm>
            <a:off x="3457575" y="20183177"/>
            <a:ext cx="5092255" cy="32885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t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IT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STAFF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30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SERVER 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trunk lên router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f0/1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 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trunk xuống các switch access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range f0/2 - 4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97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75" dirty="0"/>
          </a:p>
        </p:txBody>
      </p:sp>
      <p:sp>
        <p:nvSpPr>
          <p:cNvPr id="143" name="Shape 128"/>
          <p:cNvSpPr/>
          <p:nvPr/>
        </p:nvSpPr>
        <p:spPr>
          <a:xfrm>
            <a:off x="228600" y="23881259"/>
            <a:ext cx="8343900" cy="7767637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44" name="Shape 129"/>
          <p:cNvSpPr/>
          <p:nvPr/>
        </p:nvSpPr>
        <p:spPr>
          <a:xfrm>
            <a:off x="238125" y="24595634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145" name="Shape 130"/>
          <p:cNvSpPr/>
          <p:nvPr/>
        </p:nvSpPr>
        <p:spPr>
          <a:xfrm>
            <a:off x="447675" y="24081284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172A"/>
          </a:solidFill>
          <a:ln/>
        </p:spPr>
      </p:sp>
      <p:sp>
        <p:nvSpPr>
          <p:cNvPr id="146" name="Text 131"/>
          <p:cNvSpPr/>
          <p:nvPr/>
        </p:nvSpPr>
        <p:spPr>
          <a:xfrm>
            <a:off x="409575" y="2408128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147" name="Text 132"/>
          <p:cNvSpPr/>
          <p:nvPr/>
        </p:nvSpPr>
        <p:spPr>
          <a:xfrm>
            <a:off x="895350" y="24062234"/>
            <a:ext cx="385719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Access Switch </a:t>
            </a:r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(SW-1 / SW-2 / SW-3)</a:t>
            </a:r>
            <a:endParaRPr lang="en-US" sz="1275" dirty="0"/>
          </a:p>
        </p:txBody>
      </p:sp>
      <p:sp>
        <p:nvSpPr>
          <p:cNvPr id="148" name="Text 133"/>
          <p:cNvSpPr/>
          <p:nvPr/>
        </p:nvSpPr>
        <p:spPr>
          <a:xfrm>
            <a:off x="895350" y="24267021"/>
            <a:ext cx="38571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f0/1 access vào VLAN · f0/24 trunk lên core</a:t>
            </a:r>
            <a:endParaRPr lang="en-US" sz="938" dirty="0"/>
          </a:p>
        </p:txBody>
      </p:sp>
      <p:sp>
        <p:nvSpPr>
          <p:cNvPr id="149" name="Shape 134"/>
          <p:cNvSpPr/>
          <p:nvPr/>
        </p:nvSpPr>
        <p:spPr>
          <a:xfrm>
            <a:off x="238125" y="24605159"/>
            <a:ext cx="3048000" cy="7034213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50" name="Shape 135"/>
          <p:cNvSpPr/>
          <p:nvPr/>
        </p:nvSpPr>
        <p:spPr>
          <a:xfrm>
            <a:off x="3276600" y="24605159"/>
            <a:ext cx="9525" cy="7034213"/>
          </a:xfrm>
          <a:prstGeom prst="rect">
            <a:avLst/>
          </a:prstGeom>
          <a:solidFill>
            <a:srgbClr val="EEF0F4"/>
          </a:solidFill>
          <a:ln/>
        </p:spPr>
      </p:sp>
      <p:pic>
        <p:nvPicPr>
          <p:cNvPr id="15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7675" y="27030834"/>
            <a:ext cx="2619375" cy="2182788"/>
          </a:xfrm>
          <a:prstGeom prst="rect">
            <a:avLst/>
          </a:prstGeom>
        </p:spPr>
      </p:pic>
      <p:sp>
        <p:nvSpPr>
          <p:cNvPr id="152" name="Shape 136"/>
          <p:cNvSpPr/>
          <p:nvPr/>
        </p:nvSpPr>
        <p:spPr>
          <a:xfrm>
            <a:off x="3286125" y="24605159"/>
            <a:ext cx="5276850" cy="7034213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53" name="Shape 137"/>
          <p:cNvSpPr/>
          <p:nvPr/>
        </p:nvSpPr>
        <p:spPr>
          <a:xfrm>
            <a:off x="3286125" y="24605159"/>
            <a:ext cx="5276850" cy="2338388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54" name="Shape 138"/>
          <p:cNvSpPr/>
          <p:nvPr/>
        </p:nvSpPr>
        <p:spPr>
          <a:xfrm>
            <a:off x="3286125" y="25029021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55" name="Shape 139"/>
          <p:cNvSpPr/>
          <p:nvPr/>
        </p:nvSpPr>
        <p:spPr>
          <a:xfrm>
            <a:off x="3438525" y="24774227"/>
            <a:ext cx="85725" cy="85725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156" name="Text 140"/>
          <p:cNvSpPr/>
          <p:nvPr/>
        </p:nvSpPr>
        <p:spPr>
          <a:xfrm>
            <a:off x="3600450" y="24745652"/>
            <a:ext cx="20968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FB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SW-1 — Laptop0 → VLAN 10 · IT</a:t>
            </a:r>
            <a:endParaRPr lang="en-US" sz="863" dirty="0"/>
          </a:p>
        </p:txBody>
      </p:sp>
      <p:sp>
        <p:nvSpPr>
          <p:cNvPr id="157" name="Shape 141"/>
          <p:cNvSpPr/>
          <p:nvPr/>
        </p:nvSpPr>
        <p:spPr>
          <a:xfrm>
            <a:off x="7797105" y="24700409"/>
            <a:ext cx="613470" cy="233362"/>
          </a:xfrm>
          <a:prstGeom prst="roundRect">
            <a:avLst>
              <a:gd name="adj" fmla="val 28571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15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92355" y="24759940"/>
            <a:ext cx="114300" cy="114300"/>
          </a:xfrm>
          <a:prstGeom prst="rect">
            <a:avLst/>
          </a:prstGeom>
        </p:spPr>
      </p:pic>
      <p:sp>
        <p:nvSpPr>
          <p:cNvPr id="159" name="Text 142"/>
          <p:cNvSpPr/>
          <p:nvPr/>
        </p:nvSpPr>
        <p:spPr>
          <a:xfrm>
            <a:off x="8025705" y="24748034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160" name="Text 143"/>
          <p:cNvSpPr/>
          <p:nvPr/>
        </p:nvSpPr>
        <p:spPr>
          <a:xfrm>
            <a:off x="3457575" y="25171896"/>
            <a:ext cx="5092255" cy="1657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t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IT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f0/1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access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access vlan 10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f0/24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938" dirty="0"/>
          </a:p>
        </p:txBody>
      </p:sp>
      <p:sp>
        <p:nvSpPr>
          <p:cNvPr id="161" name="Shape 144"/>
          <p:cNvSpPr/>
          <p:nvPr/>
        </p:nvSpPr>
        <p:spPr>
          <a:xfrm>
            <a:off x="3286125" y="26953071"/>
            <a:ext cx="5276850" cy="2338388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62" name="Shape 145"/>
          <p:cNvSpPr/>
          <p:nvPr/>
        </p:nvSpPr>
        <p:spPr>
          <a:xfrm>
            <a:off x="3286125" y="27376934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63" name="Shape 146"/>
          <p:cNvSpPr/>
          <p:nvPr/>
        </p:nvSpPr>
        <p:spPr>
          <a:xfrm>
            <a:off x="3438525" y="27122140"/>
            <a:ext cx="85725" cy="85725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164" name="Text 147"/>
          <p:cNvSpPr/>
          <p:nvPr/>
        </p:nvSpPr>
        <p:spPr>
          <a:xfrm>
            <a:off x="3600450" y="27093565"/>
            <a:ext cx="23137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FB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SW-2 — Server → VLAN 30 · Server</a:t>
            </a:r>
            <a:endParaRPr lang="en-US" sz="863" dirty="0"/>
          </a:p>
        </p:txBody>
      </p:sp>
      <p:sp>
        <p:nvSpPr>
          <p:cNvPr id="165" name="Shape 148"/>
          <p:cNvSpPr/>
          <p:nvPr/>
        </p:nvSpPr>
        <p:spPr>
          <a:xfrm>
            <a:off x="7797105" y="27048321"/>
            <a:ext cx="613470" cy="233362"/>
          </a:xfrm>
          <a:prstGeom prst="roundRect">
            <a:avLst>
              <a:gd name="adj" fmla="val 28571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16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892355" y="27107852"/>
            <a:ext cx="114300" cy="114300"/>
          </a:xfrm>
          <a:prstGeom prst="rect">
            <a:avLst/>
          </a:prstGeom>
        </p:spPr>
      </p:pic>
      <p:sp>
        <p:nvSpPr>
          <p:cNvPr id="167" name="Text 149"/>
          <p:cNvSpPr/>
          <p:nvPr/>
        </p:nvSpPr>
        <p:spPr>
          <a:xfrm>
            <a:off x="8025705" y="27095946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168" name="Text 150"/>
          <p:cNvSpPr/>
          <p:nvPr/>
        </p:nvSpPr>
        <p:spPr>
          <a:xfrm>
            <a:off x="3457575" y="27519809"/>
            <a:ext cx="5092255" cy="1657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t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30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SERVER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f0/1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access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access vlan 30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f0/24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938" dirty="0"/>
          </a:p>
        </p:txBody>
      </p:sp>
      <p:sp>
        <p:nvSpPr>
          <p:cNvPr id="169" name="Shape 151"/>
          <p:cNvSpPr/>
          <p:nvPr/>
        </p:nvSpPr>
        <p:spPr>
          <a:xfrm>
            <a:off x="3286125" y="29300984"/>
            <a:ext cx="5276850" cy="2338388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70" name="Shape 152"/>
          <p:cNvSpPr/>
          <p:nvPr/>
        </p:nvSpPr>
        <p:spPr>
          <a:xfrm>
            <a:off x="3286125" y="29724846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71" name="Shape 153"/>
          <p:cNvSpPr/>
          <p:nvPr/>
        </p:nvSpPr>
        <p:spPr>
          <a:xfrm>
            <a:off x="3438525" y="29470052"/>
            <a:ext cx="85725" cy="85725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172" name="Text 154"/>
          <p:cNvSpPr/>
          <p:nvPr/>
        </p:nvSpPr>
        <p:spPr>
          <a:xfrm>
            <a:off x="3600450" y="29441477"/>
            <a:ext cx="23137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FB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SW-3 — Laptop2 → VLAN 20 · Staff</a:t>
            </a:r>
            <a:endParaRPr lang="en-US" sz="863" dirty="0"/>
          </a:p>
        </p:txBody>
      </p:sp>
      <p:sp>
        <p:nvSpPr>
          <p:cNvPr id="173" name="Shape 155"/>
          <p:cNvSpPr/>
          <p:nvPr/>
        </p:nvSpPr>
        <p:spPr>
          <a:xfrm>
            <a:off x="7797105" y="29396234"/>
            <a:ext cx="613470" cy="233362"/>
          </a:xfrm>
          <a:prstGeom prst="roundRect">
            <a:avLst>
              <a:gd name="adj" fmla="val 28571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92355" y="29455765"/>
            <a:ext cx="114300" cy="114300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8025705" y="29443859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176" name="Text 157"/>
          <p:cNvSpPr/>
          <p:nvPr/>
        </p:nvSpPr>
        <p:spPr>
          <a:xfrm>
            <a:off x="3457575" y="29867721"/>
            <a:ext cx="5092255" cy="1657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t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STAFF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f0/1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access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access vlan 20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f0/24</a:t>
            </a:r>
            <a:endParaRPr lang="en-US" sz="938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switchport mode trunk</a:t>
            </a:r>
            <a:endParaRPr lang="en-US" sz="938" dirty="0"/>
          </a:p>
        </p:txBody>
      </p:sp>
      <p:sp>
        <p:nvSpPr>
          <p:cNvPr id="177" name="Shape 158"/>
          <p:cNvSpPr/>
          <p:nvPr/>
        </p:nvSpPr>
        <p:spPr>
          <a:xfrm>
            <a:off x="228600" y="31896546"/>
            <a:ext cx="8343900" cy="4933950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78" name="Shape 159"/>
          <p:cNvSpPr/>
          <p:nvPr/>
        </p:nvSpPr>
        <p:spPr>
          <a:xfrm>
            <a:off x="238125" y="32610921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179" name="Shape 160"/>
          <p:cNvSpPr/>
          <p:nvPr/>
        </p:nvSpPr>
        <p:spPr>
          <a:xfrm>
            <a:off x="447675" y="32096571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7C5CFF"/>
          </a:solidFill>
          <a:ln/>
        </p:spPr>
      </p:sp>
      <p:sp>
        <p:nvSpPr>
          <p:cNvPr id="180" name="Text 161"/>
          <p:cNvSpPr/>
          <p:nvPr/>
        </p:nvSpPr>
        <p:spPr>
          <a:xfrm>
            <a:off x="409575" y="3209657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181" name="Text 162"/>
          <p:cNvSpPr/>
          <p:nvPr/>
        </p:nvSpPr>
        <p:spPr>
          <a:xfrm>
            <a:off x="895350" y="32077521"/>
            <a:ext cx="432229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Router-on-a-Stick </a:t>
            </a:r>
            <a:pPr algn="l" indent="0" marL="0">
              <a:buNone/>
            </a:pPr>
            <a:r>
              <a:rPr lang="en-US" sz="12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(định tuyến liên VLAN)</a:t>
            </a:r>
            <a:endParaRPr lang="en-US" sz="1275" dirty="0"/>
          </a:p>
        </p:txBody>
      </p:sp>
      <p:sp>
        <p:nvSpPr>
          <p:cNvPr id="182" name="Text 163"/>
          <p:cNvSpPr/>
          <p:nvPr/>
        </p:nvSpPr>
        <p:spPr>
          <a:xfrm>
            <a:off x="895350" y="32282309"/>
            <a:ext cx="432229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cổng G0/0 → 3 subinterface · dot1Q · gateway mỗi VLAN</a:t>
            </a:r>
            <a:endParaRPr lang="en-US" sz="938" dirty="0"/>
          </a:p>
        </p:txBody>
      </p:sp>
      <p:sp>
        <p:nvSpPr>
          <p:cNvPr id="183" name="Shape 164"/>
          <p:cNvSpPr/>
          <p:nvPr/>
        </p:nvSpPr>
        <p:spPr>
          <a:xfrm>
            <a:off x="238125" y="32620446"/>
            <a:ext cx="3048000" cy="4200525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84" name="Shape 165"/>
          <p:cNvSpPr/>
          <p:nvPr/>
        </p:nvSpPr>
        <p:spPr>
          <a:xfrm>
            <a:off x="3276600" y="32620446"/>
            <a:ext cx="9525" cy="4200525"/>
          </a:xfrm>
          <a:prstGeom prst="rect">
            <a:avLst/>
          </a:prstGeom>
          <a:solidFill>
            <a:srgbClr val="EEF0F4"/>
          </a:solidFill>
          <a:ln/>
        </p:spPr>
      </p:sp>
      <p:pic>
        <p:nvPicPr>
          <p:cNvPr id="185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47675" y="33629278"/>
            <a:ext cx="2619375" cy="2182788"/>
          </a:xfrm>
          <a:prstGeom prst="rect">
            <a:avLst/>
          </a:prstGeom>
        </p:spPr>
      </p:pic>
      <p:sp>
        <p:nvSpPr>
          <p:cNvPr id="186" name="Shape 166"/>
          <p:cNvSpPr/>
          <p:nvPr/>
        </p:nvSpPr>
        <p:spPr>
          <a:xfrm>
            <a:off x="3286125" y="32620446"/>
            <a:ext cx="5276850" cy="4200525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87" name="Shape 167"/>
          <p:cNvSpPr/>
          <p:nvPr/>
        </p:nvSpPr>
        <p:spPr>
          <a:xfrm>
            <a:off x="3286125" y="33082409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188" name="Shape 168"/>
          <p:cNvSpPr/>
          <p:nvPr/>
        </p:nvSpPr>
        <p:spPr>
          <a:xfrm>
            <a:off x="3438525" y="32799040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9" name="Shape 169"/>
          <p:cNvSpPr/>
          <p:nvPr/>
        </p:nvSpPr>
        <p:spPr>
          <a:xfrm>
            <a:off x="3619500" y="32799040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0" name="Shape 170"/>
          <p:cNvSpPr/>
          <p:nvPr/>
        </p:nvSpPr>
        <p:spPr>
          <a:xfrm>
            <a:off x="3800475" y="32799040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1" name="Text 171"/>
          <p:cNvSpPr/>
          <p:nvPr/>
        </p:nvSpPr>
        <p:spPr>
          <a:xfrm>
            <a:off x="4057650" y="32779990"/>
            <a:ext cx="5363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Router#</a:t>
            </a:r>
            <a:endParaRPr lang="en-US" sz="863" dirty="0"/>
          </a:p>
        </p:txBody>
      </p:sp>
      <p:sp>
        <p:nvSpPr>
          <p:cNvPr id="192" name="Shape 172"/>
          <p:cNvSpPr/>
          <p:nvPr/>
        </p:nvSpPr>
        <p:spPr>
          <a:xfrm>
            <a:off x="7778055" y="32725221"/>
            <a:ext cx="632520" cy="252413"/>
          </a:xfrm>
          <a:prstGeom prst="roundRect">
            <a:avLst>
              <a:gd name="adj" fmla="val 26415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193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882830" y="32794277"/>
            <a:ext cx="114300" cy="114300"/>
          </a:xfrm>
          <a:prstGeom prst="rect">
            <a:avLst/>
          </a:prstGeom>
        </p:spPr>
      </p:pic>
      <p:sp>
        <p:nvSpPr>
          <p:cNvPr id="194" name="Text 173"/>
          <p:cNvSpPr/>
          <p:nvPr/>
        </p:nvSpPr>
        <p:spPr>
          <a:xfrm>
            <a:off x="8016180" y="32782371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195" name="Text 174"/>
          <p:cNvSpPr/>
          <p:nvPr/>
        </p:nvSpPr>
        <p:spPr>
          <a:xfrm>
            <a:off x="3457575" y="33263384"/>
            <a:ext cx="5092255" cy="34051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t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g0/0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 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VLAN 10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g0/0.10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encapsulation dot1Q 10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192.168.10.1 255.255.255.0 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VLAN 20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g0/0.20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encapsulation dot1Q 20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192.168.20.1 255.255.255.0 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VLAN 30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g0/0.30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encapsulation dot1Q 30</a:t>
            </a:r>
            <a:endParaRPr lang="en-US" sz="97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192.168.30.1 255.255.255.0</a:t>
            </a:r>
            <a:endParaRPr lang="en-US" sz="975" dirty="0"/>
          </a:p>
        </p:txBody>
      </p:sp>
      <p:sp>
        <p:nvSpPr>
          <p:cNvPr id="196" name="Shape 175"/>
          <p:cNvSpPr/>
          <p:nvPr/>
        </p:nvSpPr>
        <p:spPr>
          <a:xfrm>
            <a:off x="228600" y="37078146"/>
            <a:ext cx="8343900" cy="5322094"/>
          </a:xfrm>
          <a:prstGeom prst="roundRect">
            <a:avLst>
              <a:gd name="adj" fmla="val 2864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97" name="Shape 176"/>
          <p:cNvSpPr/>
          <p:nvPr/>
        </p:nvSpPr>
        <p:spPr>
          <a:xfrm>
            <a:off x="238125" y="37792521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198" name="Shape 177"/>
          <p:cNvSpPr/>
          <p:nvPr/>
        </p:nvSpPr>
        <p:spPr>
          <a:xfrm>
            <a:off x="447675" y="37278171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7C5CFF"/>
          </a:solidFill>
          <a:ln/>
        </p:spPr>
      </p:sp>
      <p:sp>
        <p:nvSpPr>
          <p:cNvPr id="199" name="Text 178"/>
          <p:cNvSpPr/>
          <p:nvPr/>
        </p:nvSpPr>
        <p:spPr>
          <a:xfrm>
            <a:off x="409575" y="3727817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" dirty="0"/>
          </a:p>
        </p:txBody>
      </p:sp>
      <p:sp>
        <p:nvSpPr>
          <p:cNvPr id="200" name="Text 179"/>
          <p:cNvSpPr/>
          <p:nvPr/>
        </p:nvSpPr>
        <p:spPr>
          <a:xfrm>
            <a:off x="895350" y="37259121"/>
            <a:ext cx="440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Server trên Router</a:t>
            </a:r>
            <a:endParaRPr lang="en-US" sz="1275" dirty="0"/>
          </a:p>
        </p:txBody>
      </p:sp>
      <p:sp>
        <p:nvSpPr>
          <p:cNvPr id="201" name="Text 180"/>
          <p:cNvSpPr/>
          <p:nvPr/>
        </p:nvSpPr>
        <p:spPr>
          <a:xfrm>
            <a:off x="895350" y="37463909"/>
            <a:ext cx="44005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pool · loại trừ gateway · default-router · dns 8.8.8.8</a:t>
            </a:r>
            <a:endParaRPr lang="en-US" sz="938" dirty="0"/>
          </a:p>
        </p:txBody>
      </p:sp>
      <p:sp>
        <p:nvSpPr>
          <p:cNvPr id="202" name="Shape 181"/>
          <p:cNvSpPr/>
          <p:nvPr/>
        </p:nvSpPr>
        <p:spPr>
          <a:xfrm>
            <a:off x="238125" y="37802046"/>
            <a:ext cx="3048000" cy="458866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03" name="Shape 182"/>
          <p:cNvSpPr/>
          <p:nvPr/>
        </p:nvSpPr>
        <p:spPr>
          <a:xfrm>
            <a:off x="3276600" y="37802046"/>
            <a:ext cx="9525" cy="4588669"/>
          </a:xfrm>
          <a:prstGeom prst="rect">
            <a:avLst/>
          </a:prstGeom>
          <a:solidFill>
            <a:srgbClr val="EEF0F4"/>
          </a:solidFill>
          <a:ln/>
        </p:spPr>
      </p:sp>
      <p:pic>
        <p:nvPicPr>
          <p:cNvPr id="20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47675" y="39004949"/>
            <a:ext cx="2619375" cy="2182788"/>
          </a:xfrm>
          <a:prstGeom prst="rect">
            <a:avLst/>
          </a:prstGeom>
        </p:spPr>
      </p:pic>
      <p:sp>
        <p:nvSpPr>
          <p:cNvPr id="205" name="Shape 183"/>
          <p:cNvSpPr/>
          <p:nvPr/>
        </p:nvSpPr>
        <p:spPr>
          <a:xfrm>
            <a:off x="3286125" y="37802046"/>
            <a:ext cx="5276850" cy="4588669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206" name="Shape 184"/>
          <p:cNvSpPr/>
          <p:nvPr/>
        </p:nvSpPr>
        <p:spPr>
          <a:xfrm>
            <a:off x="3286125" y="38264009"/>
            <a:ext cx="5276850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207" name="Shape 185"/>
          <p:cNvSpPr/>
          <p:nvPr/>
        </p:nvSpPr>
        <p:spPr>
          <a:xfrm>
            <a:off x="3438525" y="37980640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8" name="Shape 186"/>
          <p:cNvSpPr/>
          <p:nvPr/>
        </p:nvSpPr>
        <p:spPr>
          <a:xfrm>
            <a:off x="3619500" y="37980640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09" name="Shape 187"/>
          <p:cNvSpPr/>
          <p:nvPr/>
        </p:nvSpPr>
        <p:spPr>
          <a:xfrm>
            <a:off x="3800475" y="37980640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10" name="Text 188"/>
          <p:cNvSpPr/>
          <p:nvPr/>
        </p:nvSpPr>
        <p:spPr>
          <a:xfrm>
            <a:off x="4057650" y="37961590"/>
            <a:ext cx="10620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Router(config)#</a:t>
            </a:r>
            <a:endParaRPr lang="en-US" sz="863" dirty="0"/>
          </a:p>
        </p:txBody>
      </p:sp>
      <p:sp>
        <p:nvSpPr>
          <p:cNvPr id="211" name="Shape 189"/>
          <p:cNvSpPr/>
          <p:nvPr/>
        </p:nvSpPr>
        <p:spPr>
          <a:xfrm>
            <a:off x="7778055" y="37906821"/>
            <a:ext cx="632520" cy="252413"/>
          </a:xfrm>
          <a:prstGeom prst="roundRect">
            <a:avLst>
              <a:gd name="adj" fmla="val 26415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212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882830" y="37975877"/>
            <a:ext cx="114300" cy="114300"/>
          </a:xfrm>
          <a:prstGeom prst="rect">
            <a:avLst/>
          </a:prstGeom>
        </p:spPr>
      </p:pic>
      <p:sp>
        <p:nvSpPr>
          <p:cNvPr id="213" name="Text 190"/>
          <p:cNvSpPr/>
          <p:nvPr/>
        </p:nvSpPr>
        <p:spPr>
          <a:xfrm>
            <a:off x="8016180" y="37963971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214" name="Text 191"/>
          <p:cNvSpPr/>
          <p:nvPr/>
        </p:nvSpPr>
        <p:spPr>
          <a:xfrm>
            <a:off x="3457575" y="38444984"/>
            <a:ext cx="5092255" cy="37933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loại trừ IP gateway </a:t>
            </a:r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excluded-address 192.168.10.1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excluded-address 192.168.20.1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excluded-address 192.168.30.1 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VLAN 10 </a:t>
            </a:r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pool IT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192.168.10.0 255.255.255.0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default-router 192.168.10.1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dns-server 8.8.8.8 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VLAN 20 </a:t>
            </a:r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pool STAFF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192.168.20.0 255.255.255.0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default-router 192.168.20.1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dns-server 8.8.8.8 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VLAN 30 </a:t>
            </a:r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dhcp pool SERVER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192.168.30.0 255.255.255.0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default-router 192.168.30.1</a:t>
            </a:r>
            <a:endParaRPr lang="en-US" sz="938" dirty="0"/>
          </a:p>
          <a:p>
            <a:pPr algn="l" indent="0" marL="0">
              <a:lnSpc>
                <a:spcPct val="166000"/>
              </a:lnSpc>
              <a:buNone/>
            </a:pPr>
            <a:r>
              <a:rPr lang="en-US" sz="938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dns-server 8.8.8.8</a:t>
            </a:r>
            <a:endParaRPr lang="en-US" sz="938" dirty="0"/>
          </a:p>
        </p:txBody>
      </p:sp>
      <p:sp>
        <p:nvSpPr>
          <p:cNvPr id="215" name="Shape 192"/>
          <p:cNvSpPr/>
          <p:nvPr/>
        </p:nvSpPr>
        <p:spPr>
          <a:xfrm>
            <a:off x="228600" y="42647890"/>
            <a:ext cx="8343900" cy="3514725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16" name="Shape 193"/>
          <p:cNvSpPr/>
          <p:nvPr/>
        </p:nvSpPr>
        <p:spPr>
          <a:xfrm>
            <a:off x="238125" y="43362265"/>
            <a:ext cx="8324850" cy="9525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217" name="Shape 194"/>
          <p:cNvSpPr/>
          <p:nvPr/>
        </p:nvSpPr>
        <p:spPr>
          <a:xfrm>
            <a:off x="447675" y="4284791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F172A"/>
          </a:solidFill>
          <a:ln/>
        </p:spPr>
      </p:sp>
      <p:sp>
        <p:nvSpPr>
          <p:cNvPr id="218" name="Text 195"/>
          <p:cNvSpPr/>
          <p:nvPr/>
        </p:nvSpPr>
        <p:spPr>
          <a:xfrm>
            <a:off x="409575" y="4284791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25" dirty="0"/>
          </a:p>
        </p:txBody>
      </p:sp>
      <p:sp>
        <p:nvSpPr>
          <p:cNvPr id="219" name="Text 196"/>
          <p:cNvSpPr/>
          <p:nvPr/>
        </p:nvSpPr>
        <p:spPr>
          <a:xfrm>
            <a:off x="895350" y="42828865"/>
            <a:ext cx="369364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Client &amp; kiểm tra</a:t>
            </a:r>
            <a:endParaRPr lang="en-US" sz="1275" dirty="0"/>
          </a:p>
        </p:txBody>
      </p:sp>
      <p:sp>
        <p:nvSpPr>
          <p:cNvPr id="220" name="Text 197"/>
          <p:cNvSpPr/>
          <p:nvPr/>
        </p:nvSpPr>
        <p:spPr>
          <a:xfrm>
            <a:off x="895350" y="43033652"/>
            <a:ext cx="36936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&amp; Server: chọn DHCP → kiểm tra IP &amp; ping</a:t>
            </a:r>
            <a:endParaRPr lang="en-US" sz="938" dirty="0"/>
          </a:p>
        </p:txBody>
      </p:sp>
      <p:sp>
        <p:nvSpPr>
          <p:cNvPr id="221" name="Shape 198"/>
          <p:cNvSpPr/>
          <p:nvPr/>
        </p:nvSpPr>
        <p:spPr>
          <a:xfrm>
            <a:off x="238125" y="43371790"/>
            <a:ext cx="3048000" cy="278130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22" name="Shape 199"/>
          <p:cNvSpPr/>
          <p:nvPr/>
        </p:nvSpPr>
        <p:spPr>
          <a:xfrm>
            <a:off x="3276600" y="43371790"/>
            <a:ext cx="9525" cy="2781300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223" name="Shape 200"/>
          <p:cNvSpPr/>
          <p:nvPr/>
        </p:nvSpPr>
        <p:spPr>
          <a:xfrm>
            <a:off x="576263" y="43581340"/>
            <a:ext cx="2362200" cy="23622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D7DBE5"/>
            </a:solidFill>
            <a:prstDash val="solid"/>
          </a:ln>
          <a:effectLst>
            <a:outerShdw sx="100000" sy="100000" kx="0" ky="0" algn="bl" rotWithShape="0" blurRad="266700" dist="114300" dir="5400000">
              <a:srgbClr val="0F172A">
                <a:alpha val="40000"/>
              </a:srgbClr>
            </a:outerShdw>
          </a:effectLst>
        </p:spPr>
      </p:sp>
      <p:sp>
        <p:nvSpPr>
          <p:cNvPr id="224" name="Shape 201"/>
          <p:cNvSpPr/>
          <p:nvPr/>
        </p:nvSpPr>
        <p:spPr>
          <a:xfrm>
            <a:off x="585788" y="43590865"/>
            <a:ext cx="2343150" cy="32385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225" name="Shape 202"/>
          <p:cNvSpPr/>
          <p:nvPr/>
        </p:nvSpPr>
        <p:spPr>
          <a:xfrm>
            <a:off x="585788" y="43905190"/>
            <a:ext cx="2343150" cy="9525"/>
          </a:xfrm>
          <a:prstGeom prst="rect">
            <a:avLst/>
          </a:prstGeom>
          <a:solidFill>
            <a:srgbClr val="E2E6EE"/>
          </a:solidFill>
          <a:ln/>
        </p:spPr>
      </p:sp>
      <p:sp>
        <p:nvSpPr>
          <p:cNvPr id="226" name="Shape 203"/>
          <p:cNvSpPr/>
          <p:nvPr/>
        </p:nvSpPr>
        <p:spPr>
          <a:xfrm>
            <a:off x="700088" y="43705165"/>
            <a:ext cx="85725" cy="857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7" name="Shape 204"/>
          <p:cNvSpPr/>
          <p:nvPr/>
        </p:nvSpPr>
        <p:spPr>
          <a:xfrm>
            <a:off x="852488" y="43705165"/>
            <a:ext cx="85725" cy="857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8" name="Shape 205"/>
          <p:cNvSpPr/>
          <p:nvPr/>
        </p:nvSpPr>
        <p:spPr>
          <a:xfrm>
            <a:off x="1004887" y="43705165"/>
            <a:ext cx="85725" cy="857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9" name="Text 206"/>
          <p:cNvSpPr/>
          <p:nvPr/>
        </p:nvSpPr>
        <p:spPr>
          <a:xfrm>
            <a:off x="1195388" y="43676590"/>
            <a:ext cx="8732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Configuration</a:t>
            </a:r>
            <a:endParaRPr lang="en-US" sz="863" dirty="0"/>
          </a:p>
        </p:txBody>
      </p:sp>
      <p:sp>
        <p:nvSpPr>
          <p:cNvPr id="230" name="Shape 207"/>
          <p:cNvSpPr/>
          <p:nvPr/>
        </p:nvSpPr>
        <p:spPr>
          <a:xfrm>
            <a:off x="719138" y="44048065"/>
            <a:ext cx="2076450" cy="371475"/>
          </a:xfrm>
          <a:prstGeom prst="roundRect">
            <a:avLst>
              <a:gd name="adj" fmla="val 23077"/>
            </a:avLst>
          </a:prstGeom>
          <a:solidFill>
            <a:srgbClr val="ECFDF5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231" name="Shape 208"/>
          <p:cNvSpPr/>
          <p:nvPr/>
        </p:nvSpPr>
        <p:spPr>
          <a:xfrm>
            <a:off x="838200" y="44157602"/>
            <a:ext cx="152400" cy="152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10B981"/>
            </a:solidFill>
            <a:prstDash val="solid"/>
          </a:ln>
        </p:spPr>
      </p:sp>
      <p:sp>
        <p:nvSpPr>
          <p:cNvPr id="232" name="Text 209"/>
          <p:cNvSpPr/>
          <p:nvPr/>
        </p:nvSpPr>
        <p:spPr>
          <a:xfrm>
            <a:off x="1076325" y="44159984"/>
            <a:ext cx="42706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</a:t>
            </a:r>
            <a:endParaRPr lang="en-US" sz="975" dirty="0"/>
          </a:p>
        </p:txBody>
      </p:sp>
      <p:sp>
        <p:nvSpPr>
          <p:cNvPr id="233" name="Shape 210"/>
          <p:cNvSpPr/>
          <p:nvPr/>
        </p:nvSpPr>
        <p:spPr>
          <a:xfrm>
            <a:off x="2306910" y="44148077"/>
            <a:ext cx="369615" cy="1714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34" name="Text 211"/>
          <p:cNvSpPr/>
          <p:nvPr/>
        </p:nvSpPr>
        <p:spPr>
          <a:xfrm>
            <a:off x="2383110" y="44176652"/>
            <a:ext cx="2934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713" dirty="0"/>
          </a:p>
        </p:txBody>
      </p:sp>
      <p:sp>
        <p:nvSpPr>
          <p:cNvPr id="235" name="Shape 212"/>
          <p:cNvSpPr/>
          <p:nvPr/>
        </p:nvSpPr>
        <p:spPr>
          <a:xfrm>
            <a:off x="719138" y="44495740"/>
            <a:ext cx="2076450" cy="361950"/>
          </a:xfrm>
          <a:prstGeom prst="roundRect">
            <a:avLst>
              <a:gd name="adj" fmla="val 23684"/>
            </a:avLst>
          </a:prstGeom>
          <a:ln w="14288">
            <a:solidFill>
              <a:srgbClr val="E2E6EE"/>
            </a:solidFill>
            <a:prstDash val="solid"/>
          </a:ln>
        </p:spPr>
      </p:sp>
      <p:sp>
        <p:nvSpPr>
          <p:cNvPr id="236" name="Shape 213"/>
          <p:cNvSpPr/>
          <p:nvPr/>
        </p:nvSpPr>
        <p:spPr>
          <a:xfrm>
            <a:off x="838200" y="44600515"/>
            <a:ext cx="152400" cy="152400"/>
          </a:xfrm>
          <a:prstGeom prst="ellipse">
            <a:avLst/>
          </a:prstGeom>
          <a:ln w="19050">
            <a:solidFill>
              <a:srgbClr val="CBD5E1"/>
            </a:solidFill>
            <a:prstDash val="solid"/>
          </a:ln>
        </p:spPr>
      </p:sp>
      <p:sp>
        <p:nvSpPr>
          <p:cNvPr id="237" name="Text 214"/>
          <p:cNvSpPr/>
          <p:nvPr/>
        </p:nvSpPr>
        <p:spPr>
          <a:xfrm>
            <a:off x="1076325" y="44595752"/>
            <a:ext cx="3944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975" dirty="0"/>
          </a:p>
        </p:txBody>
      </p:sp>
      <p:sp>
        <p:nvSpPr>
          <p:cNvPr id="238" name="Shape 215"/>
          <p:cNvSpPr/>
          <p:nvPr/>
        </p:nvSpPr>
        <p:spPr>
          <a:xfrm>
            <a:off x="719138" y="44981515"/>
            <a:ext cx="2076450" cy="9525"/>
          </a:xfrm>
          <a:prstGeom prst="rect">
            <a:avLst/>
          </a:prstGeom>
          <a:solidFill>
            <a:srgbClr val="E2E6EE"/>
          </a:solidFill>
          <a:ln/>
        </p:spPr>
      </p:sp>
      <p:sp>
        <p:nvSpPr>
          <p:cNvPr id="239" name="Text 216"/>
          <p:cNvSpPr/>
          <p:nvPr/>
        </p:nvSpPr>
        <p:spPr>
          <a:xfrm>
            <a:off x="719138" y="45095815"/>
            <a:ext cx="316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IPv4</a:t>
            </a:r>
            <a:endParaRPr lang="en-US" sz="788" dirty="0"/>
          </a:p>
        </p:txBody>
      </p:sp>
      <p:sp>
        <p:nvSpPr>
          <p:cNvPr id="240" name="Text 217"/>
          <p:cNvSpPr/>
          <p:nvPr/>
        </p:nvSpPr>
        <p:spPr>
          <a:xfrm>
            <a:off x="1955453" y="45095815"/>
            <a:ext cx="9163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192.168.10.101</a:t>
            </a:r>
            <a:endParaRPr lang="en-US" sz="788" dirty="0"/>
          </a:p>
        </p:txBody>
      </p:sp>
      <p:sp>
        <p:nvSpPr>
          <p:cNvPr id="241" name="Text 218"/>
          <p:cNvSpPr/>
          <p:nvPr/>
        </p:nvSpPr>
        <p:spPr>
          <a:xfrm>
            <a:off x="719138" y="45286315"/>
            <a:ext cx="4362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</a:t>
            </a:r>
            <a:endParaRPr lang="en-US" sz="788" dirty="0"/>
          </a:p>
        </p:txBody>
      </p:sp>
      <p:sp>
        <p:nvSpPr>
          <p:cNvPr id="242" name="Text 219"/>
          <p:cNvSpPr/>
          <p:nvPr/>
        </p:nvSpPr>
        <p:spPr>
          <a:xfrm>
            <a:off x="2015430" y="45286315"/>
            <a:ext cx="8563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255.255.255.0</a:t>
            </a:r>
            <a:endParaRPr lang="en-US" sz="788" dirty="0"/>
          </a:p>
        </p:txBody>
      </p:sp>
      <p:sp>
        <p:nvSpPr>
          <p:cNvPr id="243" name="Text 220"/>
          <p:cNvSpPr/>
          <p:nvPr/>
        </p:nvSpPr>
        <p:spPr>
          <a:xfrm>
            <a:off x="719138" y="45476815"/>
            <a:ext cx="496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788" dirty="0"/>
          </a:p>
        </p:txBody>
      </p:sp>
      <p:sp>
        <p:nvSpPr>
          <p:cNvPr id="244" name="Text 221"/>
          <p:cNvSpPr/>
          <p:nvPr/>
        </p:nvSpPr>
        <p:spPr>
          <a:xfrm>
            <a:off x="2075483" y="45476815"/>
            <a:ext cx="796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</a:t>
            </a:r>
            <a:endParaRPr lang="en-US" sz="788" dirty="0"/>
          </a:p>
        </p:txBody>
      </p:sp>
      <p:sp>
        <p:nvSpPr>
          <p:cNvPr id="245" name="Text 222"/>
          <p:cNvSpPr/>
          <p:nvPr/>
        </p:nvSpPr>
        <p:spPr>
          <a:xfrm>
            <a:off x="719138" y="45667315"/>
            <a:ext cx="2562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788" dirty="0"/>
          </a:p>
        </p:txBody>
      </p:sp>
      <p:sp>
        <p:nvSpPr>
          <p:cNvPr id="246" name="Text 223"/>
          <p:cNvSpPr/>
          <p:nvPr/>
        </p:nvSpPr>
        <p:spPr>
          <a:xfrm>
            <a:off x="2375520" y="45667315"/>
            <a:ext cx="496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788" dirty="0"/>
          </a:p>
        </p:txBody>
      </p:sp>
      <p:sp>
        <p:nvSpPr>
          <p:cNvPr id="247" name="Shape 224"/>
          <p:cNvSpPr/>
          <p:nvPr/>
        </p:nvSpPr>
        <p:spPr>
          <a:xfrm>
            <a:off x="3286125" y="43371790"/>
            <a:ext cx="5915397" cy="27813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248" name="Shape 225"/>
          <p:cNvSpPr/>
          <p:nvPr/>
        </p:nvSpPr>
        <p:spPr>
          <a:xfrm>
            <a:off x="3286125" y="43833752"/>
            <a:ext cx="5915397" cy="9525"/>
          </a:xfrm>
          <a:prstGeom prst="rect">
            <a:avLst/>
          </a:prstGeom>
          <a:solidFill>
            <a:srgbClr val="1C2444"/>
          </a:solidFill>
          <a:ln/>
        </p:spPr>
      </p:sp>
      <p:sp>
        <p:nvSpPr>
          <p:cNvPr id="249" name="Shape 226"/>
          <p:cNvSpPr/>
          <p:nvPr/>
        </p:nvSpPr>
        <p:spPr>
          <a:xfrm>
            <a:off x="3438525" y="43550384"/>
            <a:ext cx="104775" cy="10477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0" name="Shape 227"/>
          <p:cNvSpPr/>
          <p:nvPr/>
        </p:nvSpPr>
        <p:spPr>
          <a:xfrm>
            <a:off x="3619500" y="43550384"/>
            <a:ext cx="104775" cy="10477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1" name="Shape 228"/>
          <p:cNvSpPr/>
          <p:nvPr/>
        </p:nvSpPr>
        <p:spPr>
          <a:xfrm>
            <a:off x="3800475" y="43550384"/>
            <a:ext cx="104775" cy="10477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2" name="Text 229"/>
          <p:cNvSpPr/>
          <p:nvPr/>
        </p:nvSpPr>
        <p:spPr>
          <a:xfrm>
            <a:off x="4057650" y="43531334"/>
            <a:ext cx="8649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PC&gt; kiểm tra</a:t>
            </a:r>
            <a:endParaRPr lang="en-US" sz="863" dirty="0"/>
          </a:p>
        </p:txBody>
      </p:sp>
      <p:sp>
        <p:nvSpPr>
          <p:cNvPr id="253" name="Shape 230"/>
          <p:cNvSpPr/>
          <p:nvPr/>
        </p:nvSpPr>
        <p:spPr>
          <a:xfrm>
            <a:off x="8416603" y="43476565"/>
            <a:ext cx="632520" cy="252413"/>
          </a:xfrm>
          <a:prstGeom prst="roundRect">
            <a:avLst>
              <a:gd name="adj" fmla="val 26415"/>
            </a:avLst>
          </a:prstGeom>
          <a:solidFill>
            <a:srgbClr val="1A2240"/>
          </a:solidFill>
          <a:ln w="9525">
            <a:solidFill>
              <a:srgbClr val="2A3460"/>
            </a:solidFill>
            <a:prstDash val="solid"/>
          </a:ln>
        </p:spPr>
      </p:sp>
      <p:pic>
        <p:nvPicPr>
          <p:cNvPr id="254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521378" y="43545621"/>
            <a:ext cx="114300" cy="114300"/>
          </a:xfrm>
          <a:prstGeom prst="rect">
            <a:avLst/>
          </a:prstGeom>
        </p:spPr>
      </p:pic>
      <p:sp>
        <p:nvSpPr>
          <p:cNvPr id="255" name="Text 231"/>
          <p:cNvSpPr/>
          <p:nvPr/>
        </p:nvSpPr>
        <p:spPr>
          <a:xfrm>
            <a:off x="8654728" y="43533715"/>
            <a:ext cx="32772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A7B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825" dirty="0"/>
          </a:p>
        </p:txBody>
      </p:sp>
      <p:sp>
        <p:nvSpPr>
          <p:cNvPr id="256" name="Text 232"/>
          <p:cNvSpPr/>
          <p:nvPr/>
        </p:nvSpPr>
        <p:spPr>
          <a:xfrm>
            <a:off x="3457575" y="44014727"/>
            <a:ext cx="5749959" cy="1338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· Kiểm tra IP đã nhận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· Ping gateway của VLAN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192.168.10.1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5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· Ping giữa các VLAN (Inter-VLAN)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IT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192.168.30.x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Staff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IT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DBE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192.168.10.x</a:t>
            </a:r>
            <a:endParaRPr lang="en-US" sz="975" dirty="0"/>
          </a:p>
        </p:txBody>
      </p:sp>
      <p:sp>
        <p:nvSpPr>
          <p:cNvPr id="257" name="Shape 233"/>
          <p:cNvSpPr/>
          <p:nvPr/>
        </p:nvSpPr>
        <p:spPr>
          <a:xfrm>
            <a:off x="3457575" y="45505390"/>
            <a:ext cx="5572497" cy="390525"/>
          </a:xfrm>
          <a:prstGeom prst="roundRect">
            <a:avLst>
              <a:gd name="adj" fmla="val 24390"/>
            </a:avLst>
          </a:prstGeom>
          <a:solidFill>
            <a:srgbClr val="0E2A20"/>
          </a:solidFill>
          <a:ln w="9525">
            <a:solidFill>
              <a:srgbClr val="14533C"/>
            </a:solidFill>
            <a:prstDash val="solid"/>
          </a:ln>
        </p:spPr>
      </p:sp>
      <p:pic>
        <p:nvPicPr>
          <p:cNvPr id="258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600450" y="45624452"/>
            <a:ext cx="152400" cy="152400"/>
          </a:xfrm>
          <a:prstGeom prst="rect">
            <a:avLst/>
          </a:prstGeom>
        </p:spPr>
      </p:pic>
      <p:sp>
        <p:nvSpPr>
          <p:cNvPr id="259" name="Text 234"/>
          <p:cNvSpPr/>
          <p:nvPr/>
        </p:nvSpPr>
        <p:spPr>
          <a:xfrm>
            <a:off x="3838575" y="45619690"/>
            <a:ext cx="30625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được giữa các VLAN → </a:t>
            </a:r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Inter-VLAN routing OK</a:t>
            </a:r>
            <a:endParaRPr lang="en-US" sz="975" dirty="0"/>
          </a:p>
        </p:txBody>
      </p:sp>
      <p:sp>
        <p:nvSpPr>
          <p:cNvPr id="260" name="Shape 235"/>
          <p:cNvSpPr/>
          <p:nvPr/>
        </p:nvSpPr>
        <p:spPr>
          <a:xfrm>
            <a:off x="228600" y="46410265"/>
            <a:ext cx="8343900" cy="2376488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pic>
        <p:nvPicPr>
          <p:cNvPr id="261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66725" y="46641246"/>
            <a:ext cx="180975" cy="180975"/>
          </a:xfrm>
          <a:prstGeom prst="rect">
            <a:avLst/>
          </a:prstGeom>
        </p:spPr>
      </p:pic>
      <p:sp>
        <p:nvSpPr>
          <p:cNvPr id="262" name="Text 236"/>
          <p:cNvSpPr/>
          <p:nvPr/>
        </p:nvSpPr>
        <p:spPr>
          <a:xfrm>
            <a:off x="742950" y="46629340"/>
            <a:ext cx="13229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thường gặp</a:t>
            </a:r>
            <a:endParaRPr lang="en-US" sz="1275" dirty="0"/>
          </a:p>
        </p:txBody>
      </p:sp>
      <p:sp>
        <p:nvSpPr>
          <p:cNvPr id="263" name="Shape 237"/>
          <p:cNvSpPr/>
          <p:nvPr/>
        </p:nvSpPr>
        <p:spPr>
          <a:xfrm>
            <a:off x="466725" y="46986527"/>
            <a:ext cx="3886200" cy="457200"/>
          </a:xfrm>
          <a:prstGeom prst="roundRect">
            <a:avLst>
              <a:gd name="adj" fmla="val 2291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64" name="Text 238"/>
          <p:cNvSpPr/>
          <p:nvPr/>
        </p:nvSpPr>
        <p:spPr>
          <a:xfrm>
            <a:off x="619125" y="47119877"/>
            <a:ext cx="1679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65" name="Text 239"/>
          <p:cNvSpPr/>
          <p:nvPr/>
        </p:nvSpPr>
        <p:spPr>
          <a:xfrm>
            <a:off x="815653" y="47131784"/>
            <a:ext cx="212529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Quên </a:t>
            </a:r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highlight>
                  <a:srgbClr val="FEE2E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shutdown </a:t>
            </a:r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router</a:t>
            </a:r>
            <a:endParaRPr lang="en-US" sz="1013" dirty="0"/>
          </a:p>
        </p:txBody>
      </p:sp>
      <p:sp>
        <p:nvSpPr>
          <p:cNvPr id="266" name="Shape 240"/>
          <p:cNvSpPr/>
          <p:nvPr/>
        </p:nvSpPr>
        <p:spPr>
          <a:xfrm>
            <a:off x="4448175" y="46986527"/>
            <a:ext cx="3886200" cy="457200"/>
          </a:xfrm>
          <a:prstGeom prst="roundRect">
            <a:avLst>
              <a:gd name="adj" fmla="val 2291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67" name="Text 241"/>
          <p:cNvSpPr/>
          <p:nvPr/>
        </p:nvSpPr>
        <p:spPr>
          <a:xfrm>
            <a:off x="4600575" y="47119877"/>
            <a:ext cx="1679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68" name="Text 242"/>
          <p:cNvSpPr/>
          <p:nvPr/>
        </p:nvSpPr>
        <p:spPr>
          <a:xfrm>
            <a:off x="4797103" y="47131784"/>
            <a:ext cx="194382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</a:t>
            </a:r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highlight>
                  <a:srgbClr val="FEE2E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 dot1Q</a:t>
            </a:r>
            <a:endParaRPr lang="en-US" sz="1013" dirty="0"/>
          </a:p>
        </p:txBody>
      </p:sp>
      <p:sp>
        <p:nvSpPr>
          <p:cNvPr id="269" name="Shape 243"/>
          <p:cNvSpPr/>
          <p:nvPr/>
        </p:nvSpPr>
        <p:spPr>
          <a:xfrm>
            <a:off x="466725" y="47538977"/>
            <a:ext cx="3886200" cy="457200"/>
          </a:xfrm>
          <a:prstGeom prst="roundRect">
            <a:avLst>
              <a:gd name="adj" fmla="val 2291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70" name="Text 244"/>
          <p:cNvSpPr/>
          <p:nvPr/>
        </p:nvSpPr>
        <p:spPr>
          <a:xfrm>
            <a:off x="619125" y="47672327"/>
            <a:ext cx="1679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71" name="Text 245"/>
          <p:cNvSpPr/>
          <p:nvPr/>
        </p:nvSpPr>
        <p:spPr>
          <a:xfrm>
            <a:off x="815653" y="47684234"/>
            <a:ext cx="14377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không bật </a:t>
            </a:r>
            <a:pPr algn="l" indent="0" marL="0">
              <a:buNone/>
            </a:pPr>
            <a:r>
              <a:rPr lang="en-US" sz="1013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</a:t>
            </a:r>
            <a:endParaRPr lang="en-US" sz="1013" dirty="0"/>
          </a:p>
        </p:txBody>
      </p:sp>
      <p:sp>
        <p:nvSpPr>
          <p:cNvPr id="272" name="Shape 246"/>
          <p:cNvSpPr/>
          <p:nvPr/>
        </p:nvSpPr>
        <p:spPr>
          <a:xfrm>
            <a:off x="4448175" y="47538977"/>
            <a:ext cx="3886200" cy="457200"/>
          </a:xfrm>
          <a:prstGeom prst="roundRect">
            <a:avLst>
              <a:gd name="adj" fmla="val 2291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73" name="Text 247"/>
          <p:cNvSpPr/>
          <p:nvPr/>
        </p:nvSpPr>
        <p:spPr>
          <a:xfrm>
            <a:off x="4600575" y="47672327"/>
            <a:ext cx="1679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74" name="Text 248"/>
          <p:cNvSpPr/>
          <p:nvPr/>
        </p:nvSpPr>
        <p:spPr>
          <a:xfrm>
            <a:off x="4797103" y="47684234"/>
            <a:ext cx="184289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chưa đặt chế độ </a:t>
            </a:r>
            <a:pPr algn="l" indent="0" marL="0">
              <a:buNone/>
            </a:pPr>
            <a:r>
              <a:rPr lang="en-US" sz="1013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</a:t>
            </a:r>
            <a:endParaRPr lang="en-US" sz="1013" dirty="0"/>
          </a:p>
        </p:txBody>
      </p:sp>
      <p:sp>
        <p:nvSpPr>
          <p:cNvPr id="275" name="Shape 249"/>
          <p:cNvSpPr/>
          <p:nvPr/>
        </p:nvSpPr>
        <p:spPr>
          <a:xfrm>
            <a:off x="466725" y="48091427"/>
            <a:ext cx="7867650" cy="457200"/>
          </a:xfrm>
          <a:prstGeom prst="roundRect">
            <a:avLst>
              <a:gd name="adj" fmla="val 22917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76" name="Text 250"/>
          <p:cNvSpPr/>
          <p:nvPr/>
        </p:nvSpPr>
        <p:spPr>
          <a:xfrm>
            <a:off x="619125" y="48224777"/>
            <a:ext cx="1679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277" name="Text 251"/>
          <p:cNvSpPr/>
          <p:nvPr/>
        </p:nvSpPr>
        <p:spPr>
          <a:xfrm>
            <a:off x="815653" y="48236684"/>
            <a:ext cx="262052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Cắm nhầm port </a:t>
            </a:r>
            <a:pPr algn="l" indent="0" marL="0">
              <a:buNone/>
            </a:pPr>
            <a:r>
              <a:rPr lang="en-US" sz="1013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/ trunk </a:t>
            </a:r>
            <a:pPr algn="l" indent="0" marL="0">
              <a:buNone/>
            </a:pPr>
            <a:r>
              <a:rPr lang="en-US" sz="1013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switch</a:t>
            </a:r>
            <a:endParaRPr lang="en-US" sz="1013" dirty="0"/>
          </a:p>
        </p:txBody>
      </p:sp>
      <p:sp>
        <p:nvSpPr>
          <p:cNvPr id="278" name="Text 252"/>
          <p:cNvSpPr/>
          <p:nvPr/>
        </p:nvSpPr>
        <p:spPr>
          <a:xfrm>
            <a:off x="266700" y="49091552"/>
            <a:ext cx="10363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Bai8.LAB · VTI</a:t>
            </a:r>
            <a:endParaRPr lang="en-US" sz="900" dirty="0"/>
          </a:p>
        </p:txBody>
      </p:sp>
      <p:sp>
        <p:nvSpPr>
          <p:cNvPr id="279" name="Text 253"/>
          <p:cNvSpPr/>
          <p:nvPr/>
        </p:nvSpPr>
        <p:spPr>
          <a:xfrm>
            <a:off x="6339780" y="49091552"/>
            <a:ext cx="2414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· Inter-VLAN Routing · DHCP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2026-06-19T02:23:14Z</dcterms:created>
  <dcterms:modified xsi:type="dcterms:W3CDTF">2026-06-19T02:23:14Z</dcterms:modified>
</cp:coreProperties>
</file>